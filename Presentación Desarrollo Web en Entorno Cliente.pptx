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embeddedFontLst>
    <p:embeddedFont>
      <p:font typeface="Lato" panose="020F0502020204030203" pitchFamily="34" charset="0"/>
      <p:regular r:id="rId16"/>
      <p:bold r:id="rId17"/>
      <p:italic r:id="rId18"/>
      <p:boldItalic r:id="rId19"/>
    </p:embeddedFont>
    <p:embeddedFont>
      <p:font typeface="Montserrat" panose="000005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4" d="100"/>
          <a:sy n="124" d="100"/>
        </p:scale>
        <p:origin x="700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7b4dd04b04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7b4dd04b04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7b4dd04b04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7b4dd04b04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7b4dd04b04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7b4dd04b04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7d6eb101b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7d6eb101b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7d6eb101bc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7d6eb101bc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7d6eb101b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7d6eb101b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7d6eb101bc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7d6eb101bc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7d6eb101bc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7d6eb101bc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7b4dd04b04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7b4dd04b04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7b4dd04b04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7b4dd04b04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7b4dd04b04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7b4dd04b04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7b1e5b06fb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7b1e5b06fb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994700" y="932550"/>
            <a:ext cx="4560000" cy="22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Desarrollo Web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 Entorno Cliente</a:t>
            </a:r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4549000" y="3425500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/>
            <a:r>
              <a:rPr lang="es" dirty="0"/>
              <a:t>Borja Saiz Bustamante</a:t>
            </a:r>
            <a:endParaRPr dirty="0"/>
          </a:p>
        </p:txBody>
      </p:sp>
      <p:sp>
        <p:nvSpPr>
          <p:cNvPr id="136" name="Google Shape;136;p13"/>
          <p:cNvSpPr txBox="1">
            <a:spLocks noGrp="1"/>
          </p:cNvSpPr>
          <p:nvPr>
            <p:ph type="subTitle" idx="1"/>
          </p:nvPr>
        </p:nvSpPr>
        <p:spPr>
          <a:xfrm>
            <a:off x="4549000" y="379317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/>
            <a:r>
              <a:rPr lang="es-ES" dirty="0"/>
              <a:t>infbsaiz@elorrieta-errekamari.com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/>
        </p:nvSpPr>
        <p:spPr>
          <a:xfrm>
            <a:off x="101975" y="1628250"/>
            <a:ext cx="1143900" cy="18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Horario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Contenidos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Evaluación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/>
        </p:nvSpPr>
        <p:spPr>
          <a:xfrm>
            <a:off x="101975" y="1628250"/>
            <a:ext cx="1143900" cy="18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Horario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Contenidos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Evaluación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7" name="Google Shape;147;p15"/>
          <p:cNvSpPr/>
          <p:nvPr/>
        </p:nvSpPr>
        <p:spPr>
          <a:xfrm>
            <a:off x="101975" y="1652400"/>
            <a:ext cx="885000" cy="320700"/>
          </a:xfrm>
          <a:prstGeom prst="trapezoid">
            <a:avLst>
              <a:gd name="adj" fmla="val 25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Horario  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8" name="Google Shape;148;p15"/>
          <p:cNvSpPr txBox="1"/>
          <p:nvPr/>
        </p:nvSpPr>
        <p:spPr>
          <a:xfrm>
            <a:off x="2564475" y="1070950"/>
            <a:ext cx="5864700" cy="3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4+2* horas / semana</a:t>
            </a: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indent="-317500">
              <a:buClr>
                <a:schemeClr val="lt1"/>
              </a:buClr>
              <a:buSzPts val="1400"/>
              <a:buFont typeface="Lato"/>
              <a:buChar char="●"/>
            </a:pPr>
            <a:r>
              <a:rPr lang="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Martes 15:00 a 18:00</a:t>
            </a:r>
            <a:r>
              <a:rPr lang="es-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* </a:t>
            </a:r>
            <a:r>
              <a:rPr lang="es-ES" sz="11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(Desarrollo </a:t>
            </a:r>
            <a:r>
              <a:rPr lang="es-ES" sz="1100" dirty="0" err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Frontend</a:t>
            </a:r>
            <a:r>
              <a:rPr lang="es-ES" sz="11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con Frameworks Modernos)</a:t>
            </a:r>
            <a:endParaRPr lang="es-ES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indent="-317500">
              <a:buClr>
                <a:schemeClr val="lt1"/>
              </a:buClr>
              <a:buSzPts val="1400"/>
              <a:buFont typeface="Lato"/>
              <a:buChar char="●"/>
            </a:pPr>
            <a:r>
              <a:rPr lang="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Jueves 15:00 a 18:00</a:t>
            </a:r>
            <a:r>
              <a:rPr lang="es-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* </a:t>
            </a:r>
            <a:r>
              <a:rPr lang="es-ES" sz="11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(Desarrollo </a:t>
            </a:r>
            <a:r>
              <a:rPr lang="es-ES" sz="1100" dirty="0" err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Frontend</a:t>
            </a:r>
            <a:r>
              <a:rPr lang="es-ES" sz="11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con Frameworks Modernos)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endParaRPr sz="11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Aula 5.013</a:t>
            </a: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/>
        </p:nvSpPr>
        <p:spPr>
          <a:xfrm>
            <a:off x="101975" y="1628250"/>
            <a:ext cx="1143900" cy="18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Horario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Contenidos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Evaluación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101975" y="2085450"/>
            <a:ext cx="1143900" cy="320700"/>
          </a:xfrm>
          <a:prstGeom prst="trapezoid">
            <a:avLst>
              <a:gd name="adj" fmla="val 25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Contenidos  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5" name="Google Shape;155;p16"/>
          <p:cNvSpPr txBox="1"/>
          <p:nvPr/>
        </p:nvSpPr>
        <p:spPr>
          <a:xfrm>
            <a:off x="2564475" y="750400"/>
            <a:ext cx="5864700" cy="40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RESULTADOS DE APRENDIZAJE</a:t>
            </a:r>
            <a:endParaRPr sz="16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🞂 RA1: Selecciona arquitecturas, sobre clientes web, identificando y analizando capacidades.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🞂 RA2: Escribe sentencias simples, aplicando la sintaxis del lenguaje y verificando su ejecución sobre navegadores.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🞂 RA3: Escribe código, identificando las funcionalidades aportadas por los objetos predefinidos del lenguaje.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🞂 RA4: Programa código para clientes web, analizando y utilizando estructuras definidas por el usuario.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/>
          <p:nvPr/>
        </p:nvSpPr>
        <p:spPr>
          <a:xfrm>
            <a:off x="101975" y="1628250"/>
            <a:ext cx="1143900" cy="18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Horario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Contenidos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Evaluación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101975" y="2085450"/>
            <a:ext cx="1143900" cy="320700"/>
          </a:xfrm>
          <a:prstGeom prst="trapezoid">
            <a:avLst>
              <a:gd name="adj" fmla="val 25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Contenidos  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2564475" y="750400"/>
            <a:ext cx="5864700" cy="40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RESULTADOS DE APRENDIZAJE</a:t>
            </a:r>
            <a:endParaRPr sz="16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🞂 RA5: Desarrolla aplicaciones web interactivas, integrando mecanismos de manejo de eventos.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🞂 RA6: Desarrolla aplicaciones web analizando y aplicando las características del modelo de objetos del documento.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🞂 RA7: Desarrolla aplicaciones, web dinámicas interactivas utilizando jQuery.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RA8: Desarrolla aplicaciones web dinámicas, reconociendo mecanismos de comunicación asíncrona entre cliente y servidor.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 txBox="1"/>
          <p:nvPr/>
        </p:nvSpPr>
        <p:spPr>
          <a:xfrm>
            <a:off x="101975" y="1628250"/>
            <a:ext cx="1143900" cy="18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Horario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Contenidos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Evaluación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101975" y="2085450"/>
            <a:ext cx="1143900" cy="320700"/>
          </a:xfrm>
          <a:prstGeom prst="trapezoid">
            <a:avLst>
              <a:gd name="adj" fmla="val 25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Contenidos  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9" name="Google Shape;169;p18"/>
          <p:cNvSpPr txBox="1"/>
          <p:nvPr/>
        </p:nvSpPr>
        <p:spPr>
          <a:xfrm>
            <a:off x="2336775" y="750400"/>
            <a:ext cx="6396600" cy="40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UNIDADES DIDÁCTICAS</a:t>
            </a:r>
            <a:endParaRPr sz="16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🞂 UD00: Introducción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Presentación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Introducción: Desarrollo web en entorno cliente.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Preparación de recursos.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🞂 UD01: Selección de arquitecturas y herramientas de programación &gt; RA1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Integración de código cliente con etiquetas HTML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Aplicando y verificando los mecanismos de integración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Evaluación de las herramientas de programación sobre clientes web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🞂 UD02: Introducción al lenguaje JavaScript &gt; RA2	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Utilización de diferentes tipos de variables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Uso de bloques de sentencias.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Utilización de comentarios de código.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Uso de herramientas y entornos para facilitar la programación, prueba y depuración de código.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"/>
          <p:cNvSpPr txBox="1"/>
          <p:nvPr/>
        </p:nvSpPr>
        <p:spPr>
          <a:xfrm>
            <a:off x="101975" y="1628250"/>
            <a:ext cx="1143900" cy="18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Horario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Contenidos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Evaluación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101975" y="2085450"/>
            <a:ext cx="1143900" cy="320700"/>
          </a:xfrm>
          <a:prstGeom prst="trapezoid">
            <a:avLst>
              <a:gd name="adj" fmla="val 25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Contenidos  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6" name="Google Shape;176;p19"/>
          <p:cNvSpPr txBox="1"/>
          <p:nvPr/>
        </p:nvSpPr>
        <p:spPr>
          <a:xfrm>
            <a:off x="2219275" y="750400"/>
            <a:ext cx="6775500" cy="40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UNIDADES DIDÁCTICAS</a:t>
            </a:r>
            <a:endParaRPr sz="16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🞂 UD03: Utilización de objetos predefinidos en JS &gt; RA3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Uso de objetos predefinidos del lenguaje de sentencias.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Generación de textos y etiquetas mediante la ejecución de código en el navegador.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Uso de las características propias del lenguaje en documentos compuestos por varias ventanas y marcos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Depuración y documentación del código.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🞂 UD04: Programación con funciones, arrays y objetos definidos por el usuario &gt; RA4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Creación y uso de funciones definidas por el usuario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Creación y uso de arrays.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Creación y uso de métodos y propiedades de los objetos.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Creación de código que use objetos definidos por el usuario.</a:t>
            </a: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 txBox="1"/>
          <p:nvPr/>
        </p:nvSpPr>
        <p:spPr>
          <a:xfrm>
            <a:off x="101975" y="1628250"/>
            <a:ext cx="1143900" cy="18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Horario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Contenidos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Evaluación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101975" y="2085450"/>
            <a:ext cx="1143900" cy="320700"/>
          </a:xfrm>
          <a:prstGeom prst="trapezoid">
            <a:avLst>
              <a:gd name="adj" fmla="val 25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Contenidos  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2219275" y="750400"/>
            <a:ext cx="6775500" cy="40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UNIDADES DIDÁCTICAS</a:t>
            </a:r>
            <a:endParaRPr sz="16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🞂 UD05: Interacción con el usuario. Eventos y formularios &gt; RA5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Creación de un código que capture y utilice eventos.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Creación de formularios web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Validación y envío de formularios web utilizando eventos.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Modificación de apariencia y comportamiento.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🞂 UD06: Utilización del modelo de objetos del documento DOM &gt; RA6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Objetos del modelo. Propiedades y métodos de los objetos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Creación de nuevos elementos de la estructura y modificación de elementos ya existentes..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Asociación de acciones a los eventos del modelo.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Programación de aplicaciones web de forma que funcionen en distintos navegadores con diferentes implementaciones del modelo.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/>
          <p:nvPr/>
        </p:nvSpPr>
        <p:spPr>
          <a:xfrm>
            <a:off x="101975" y="1628250"/>
            <a:ext cx="1143900" cy="18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Horario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Contenidos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Evaluación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2219275" y="750400"/>
            <a:ext cx="6775500" cy="40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UNIDADES DIDÁCTICAS</a:t>
            </a:r>
            <a:endParaRPr sz="16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🞂 UD07: Librerías de Actualización dinámica jQuery &gt; RA7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Acceso al DOM utilizando jquery.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Creación de formularios web con Transiciones Y Animaciones en jQuery.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Validación y envío de formularios web utilizando eventos.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Uso de expresiones regulares para facilitar los procedimientos de validación.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🞂 UD08: Utilización de Frameworks de Javascript (Vue.js)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Conceptos básicos.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Ciclo de vida.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Componentes.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Comunicación entre componentes.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🞂 UD09: Biblioteca de front-end HTMX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Conceptos básicos.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Peticiones HTTP.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Actualización del DOM.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101975" y="2085450"/>
            <a:ext cx="1143900" cy="320700"/>
          </a:xfrm>
          <a:prstGeom prst="trapezoid">
            <a:avLst>
              <a:gd name="adj" fmla="val 25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Contenidos  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 txBox="1"/>
          <p:nvPr/>
        </p:nvSpPr>
        <p:spPr>
          <a:xfrm>
            <a:off x="101975" y="1628250"/>
            <a:ext cx="1143900" cy="18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Horario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Contenidos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Evaluación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6" name="Google Shape;196;p22"/>
          <p:cNvSpPr/>
          <p:nvPr/>
        </p:nvSpPr>
        <p:spPr>
          <a:xfrm>
            <a:off x="101975" y="2466450"/>
            <a:ext cx="1143900" cy="320700"/>
          </a:xfrm>
          <a:prstGeom prst="trapezoid">
            <a:avLst>
              <a:gd name="adj" fmla="val 25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Evaluación 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7" name="Google Shape;197;p22"/>
          <p:cNvSpPr txBox="1"/>
          <p:nvPr/>
        </p:nvSpPr>
        <p:spPr>
          <a:xfrm>
            <a:off x="2564475" y="750400"/>
            <a:ext cx="5864700" cy="40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Las evaluaciones serán calificadas mediante ejercicios, exámenes y trabajos que los/as estudiantes realizarán durante el curso (evaluación continua) y su actitud en el mismo.</a:t>
            </a: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La nota de la primera evaluación tendrá tres partes:</a:t>
            </a: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just">
              <a:buClr>
                <a:schemeClr val="lt1"/>
              </a:buClr>
              <a:buSzPts val="1400"/>
              <a:buFont typeface="Lato"/>
              <a:buChar char="●"/>
            </a:pPr>
            <a:r>
              <a:rPr lang="es-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50% </a:t>
            </a:r>
            <a:r>
              <a:rPr lang="es-ES" dirty="0" err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Exámen</a:t>
            </a:r>
            <a:endParaRPr lang="es-ES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just">
              <a:buClr>
                <a:schemeClr val="lt1"/>
              </a:buClr>
              <a:buSzPts val="1400"/>
              <a:buFont typeface="Lato"/>
              <a:buChar char="●"/>
            </a:pPr>
            <a:r>
              <a:rPr lang="es-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40% Reto</a:t>
            </a:r>
          </a:p>
          <a:p>
            <a:pPr marL="457200" lvl="0" indent="-317500" algn="just">
              <a:buClr>
                <a:schemeClr val="lt1"/>
              </a:buClr>
              <a:buSzPts val="1400"/>
              <a:buFont typeface="Lato"/>
              <a:buChar char="●"/>
            </a:pPr>
            <a:r>
              <a:rPr lang="es-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10% Entregas *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*El profesor indicará qué ejercicios y trabajos contarán para esta parte de la evaluación.</a:t>
            </a: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 deberá obtener una nota </a:t>
            </a:r>
            <a:r>
              <a:rPr lang="es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mínima de 4 en el examen</a:t>
            </a:r>
            <a:r>
              <a:rPr lang="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para poder hacer media con las otras dos partes.</a:t>
            </a: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3"/>
          <p:cNvSpPr txBox="1"/>
          <p:nvPr/>
        </p:nvSpPr>
        <p:spPr>
          <a:xfrm>
            <a:off x="101975" y="1628250"/>
            <a:ext cx="1143900" cy="18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Horario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Contenidos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Evaluación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3" name="Google Shape;203;p23"/>
          <p:cNvSpPr/>
          <p:nvPr/>
        </p:nvSpPr>
        <p:spPr>
          <a:xfrm>
            <a:off x="101975" y="2466450"/>
            <a:ext cx="1143900" cy="320700"/>
          </a:xfrm>
          <a:prstGeom prst="trapezoid">
            <a:avLst>
              <a:gd name="adj" fmla="val 25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Evaluación 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4" name="Google Shape;204;p23"/>
          <p:cNvSpPr txBox="1"/>
          <p:nvPr/>
        </p:nvSpPr>
        <p:spPr>
          <a:xfrm>
            <a:off x="2564475" y="750400"/>
            <a:ext cx="5864700" cy="40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Evaluación continua</a:t>
            </a: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1ª Evaluación → Noviembre.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2ª Evaluación → Febrero.</a:t>
            </a: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Evaluación final</a:t>
            </a: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1ª Final (Convocatoria ordinaria) → Por definir.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2ª Final (Convocatoria extraordinaria) → Por definir.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Para la 1ª Final, en caso de tener ambas evaluaciones aprobadas la calificación final se calculará con una ponderación de 50%+50%.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En caso de que vaya a la primera final con alguna evaluación suspendida se mantendrá la nota de la evaluación aprobada. 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 la 2ª Final se acudirá en cualquiera de los casos con el módulo al completo.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4"/>
          <p:cNvSpPr txBox="1"/>
          <p:nvPr/>
        </p:nvSpPr>
        <p:spPr>
          <a:xfrm>
            <a:off x="101975" y="1628250"/>
            <a:ext cx="1143900" cy="18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Horario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Contenidos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Evaluación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0" name="Google Shape;210;p24"/>
          <p:cNvSpPr/>
          <p:nvPr/>
        </p:nvSpPr>
        <p:spPr>
          <a:xfrm>
            <a:off x="101975" y="2466450"/>
            <a:ext cx="1143900" cy="320700"/>
          </a:xfrm>
          <a:prstGeom prst="trapezoid">
            <a:avLst>
              <a:gd name="adj" fmla="val 25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Evaluación 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1" name="Google Shape;211;p24"/>
          <p:cNvSpPr txBox="1"/>
          <p:nvPr/>
        </p:nvSpPr>
        <p:spPr>
          <a:xfrm>
            <a:off x="2564475" y="750400"/>
            <a:ext cx="5864700" cy="40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Absentismo</a:t>
            </a: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Faltas de asistencia durante la evaluación: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	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00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Si un/a estudiante acumula un 20% de faltas de asistencia a una evaluación, justificadas o injustificadas, perderá el derecho de hacer esa evaluación parcial. Se consideran las dos evaluaciones como independientes y deberá ir a la 1ª Final con al menos esa evaluación.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00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00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Faltas de asistencia totales: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00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En lo que respecta al total de horas del módulo, si el/la alumno/a acumula un 20% del total de las horas, perderá automáticamente el derecho a la evaluación contínua y deberá presentarse a los exámenes finales con la totalidad del módulo.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5"/>
          <p:cNvSpPr txBox="1"/>
          <p:nvPr/>
        </p:nvSpPr>
        <p:spPr>
          <a:xfrm>
            <a:off x="101975" y="1628250"/>
            <a:ext cx="1143900" cy="18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Horario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Contenidos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Evaluación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7" name="Google Shape;217;p25"/>
          <p:cNvSpPr txBox="1"/>
          <p:nvPr/>
        </p:nvSpPr>
        <p:spPr>
          <a:xfrm>
            <a:off x="2564475" y="750400"/>
            <a:ext cx="5864700" cy="40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Respeto mutuo</a:t>
            </a:r>
            <a:endParaRPr b="1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Vocabulario:</a:t>
            </a: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00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No se tolerarán faltas de respeto ni lenguaje despectivo e hiriente ni hacia el profesor ni hacia otros/as compañeros/as.</a:t>
            </a: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00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Uso del móvil y/o auriculares:</a:t>
            </a: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00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El móvil deberá estar en todo momento guardado en el bolsillo o mochila, no se podrá usar ni tener sobre la mesa.</a:t>
            </a: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00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Solo se podrá usar auriculares en el tiempo destinado a trabajo individual. Nunca durante explicaciones del profesor ni en exámenes. </a:t>
            </a: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00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Salidas al baño:</a:t>
            </a: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00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No se podrá salvo urgencia máxima salir al baño durante una explicación del profesor y en caso de ser necesario se le informará de esa urgencia.</a:t>
            </a: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1047</Words>
  <Application>Microsoft Office PowerPoint</Application>
  <PresentationFormat>Presentación en pantalla (16:9)</PresentationFormat>
  <Paragraphs>213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Lato</vt:lpstr>
      <vt:lpstr>Arial</vt:lpstr>
      <vt:lpstr>Montserrat</vt:lpstr>
      <vt:lpstr>Focus</vt:lpstr>
      <vt:lpstr>Desarrollo Web en Entorno Cliente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Borja Saiz Bustamante</cp:lastModifiedBy>
  <cp:revision>1</cp:revision>
  <dcterms:modified xsi:type="dcterms:W3CDTF">2026-09-19T18:35:59Z</dcterms:modified>
</cp:coreProperties>
</file>