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7562850" cx="10693400"/>
  <p:notesSz cx="10693400" cy="7562850"/>
  <p:embeddedFontLst>
    <p:embeddedFont>
      <p:font typeface="Libre Franklin Medium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iVzl+Obtu6+EHyvlkO+LahQ7yB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DCC02D-A91B-4BEF-9B40-9E9CB074C1E4}">
  <a:tblStyle styleId="{D9DCC02D-A91B-4BEF-9B40-9E9CB074C1E4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5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  <a:tblStyle styleId="{07D878EA-F553-429C-B00B-4E5247AAEF76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6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LibreFranklinMedium-regular.fntdata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LibreFranklinMedium-italic.fntdata"/><Relationship Id="rId23" Type="http://schemas.openxmlformats.org/officeDocument/2006/relationships/slide" Target="slides/slide17.xml"/><Relationship Id="rId45" Type="http://schemas.openxmlformats.org/officeDocument/2006/relationships/font" Target="fonts/LibreFranklin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font" Target="fonts/LibreFranklinMedium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7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9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13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14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8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19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20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21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22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23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24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25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26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27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8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p28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29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30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p31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p32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3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p33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p34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p35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p36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7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p37:notes"/>
          <p:cNvSpPr/>
          <p:nvPr>
            <p:ph idx="2" type="sldImg"/>
          </p:nvPr>
        </p:nvSpPr>
        <p:spPr>
          <a:xfrm>
            <a:off x="3341688" y="566738"/>
            <a:ext cx="4011612" cy="2836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9"/>
          <p:cNvSpPr txBox="1"/>
          <p:nvPr>
            <p:ph idx="11" type="ftr"/>
          </p:nvPr>
        </p:nvSpPr>
        <p:spPr>
          <a:xfrm>
            <a:off x="7017475" y="6835318"/>
            <a:ext cx="2084070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9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9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/>
          <p:nvPr>
            <p:ph type="title"/>
          </p:nvPr>
        </p:nvSpPr>
        <p:spPr>
          <a:xfrm>
            <a:off x="1471866" y="524937"/>
            <a:ext cx="733361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" type="body"/>
          </p:nvPr>
        </p:nvSpPr>
        <p:spPr>
          <a:xfrm>
            <a:off x="1383153" y="1826102"/>
            <a:ext cx="7835900" cy="361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7017475" y="6835318"/>
            <a:ext cx="2084070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0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1"/>
          <p:cNvSpPr txBox="1"/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" type="subTitle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1" type="ftr"/>
          </p:nvPr>
        </p:nvSpPr>
        <p:spPr>
          <a:xfrm>
            <a:off x="7017475" y="6835318"/>
            <a:ext cx="2084070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/>
          <p:nvPr>
            <p:ph type="title"/>
          </p:nvPr>
        </p:nvSpPr>
        <p:spPr>
          <a:xfrm>
            <a:off x="1471866" y="524937"/>
            <a:ext cx="733361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" type="body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2" type="body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2"/>
          <p:cNvSpPr txBox="1"/>
          <p:nvPr>
            <p:ph idx="11" type="ftr"/>
          </p:nvPr>
        </p:nvSpPr>
        <p:spPr>
          <a:xfrm>
            <a:off x="7017475" y="6835318"/>
            <a:ext cx="2084070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2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3"/>
          <p:cNvSpPr txBox="1"/>
          <p:nvPr>
            <p:ph type="title"/>
          </p:nvPr>
        </p:nvSpPr>
        <p:spPr>
          <a:xfrm>
            <a:off x="1471866" y="524937"/>
            <a:ext cx="733361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7017475" y="6835318"/>
            <a:ext cx="2084070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/>
          <p:nvPr/>
        </p:nvSpPr>
        <p:spPr>
          <a:xfrm>
            <a:off x="520636" y="5486399"/>
            <a:ext cx="3759200" cy="1905000"/>
          </a:xfrm>
          <a:custGeom>
            <a:rect b="b" l="l" r="r" t="t"/>
            <a:pathLst>
              <a:path extrusionOk="0" h="1905000" w="3759200">
                <a:moveTo>
                  <a:pt x="2151334" y="1"/>
                </a:moveTo>
                <a:lnTo>
                  <a:pt x="0" y="0"/>
                </a:lnTo>
                <a:lnTo>
                  <a:pt x="2505" y="1905000"/>
                </a:lnTo>
                <a:lnTo>
                  <a:pt x="3759201" y="1905000"/>
                </a:lnTo>
                <a:lnTo>
                  <a:pt x="2151334" y="1"/>
                </a:lnTo>
                <a:close/>
              </a:path>
            </a:pathLst>
          </a:custGeom>
          <a:solidFill>
            <a:srgbClr val="EA157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38"/>
          <p:cNvSpPr/>
          <p:nvPr/>
        </p:nvSpPr>
        <p:spPr>
          <a:xfrm>
            <a:off x="520636" y="5486399"/>
            <a:ext cx="9639300" cy="1905000"/>
          </a:xfrm>
          <a:custGeom>
            <a:rect b="b" l="l" r="r" t="t"/>
            <a:pathLst>
              <a:path extrusionOk="0" h="1905000" w="9639300">
                <a:moveTo>
                  <a:pt x="2151152" y="0"/>
                </a:moveTo>
                <a:lnTo>
                  <a:pt x="0" y="1905000"/>
                </a:lnTo>
                <a:lnTo>
                  <a:pt x="9639300" y="1905000"/>
                </a:lnTo>
                <a:lnTo>
                  <a:pt x="9639300" y="977"/>
                </a:lnTo>
                <a:lnTo>
                  <a:pt x="2151152" y="0"/>
                </a:lnTo>
                <a:close/>
              </a:path>
            </a:pathLst>
          </a:custGeom>
          <a:solidFill>
            <a:srgbClr val="FEB80A">
              <a:alpha val="79215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38"/>
          <p:cNvSpPr txBox="1"/>
          <p:nvPr>
            <p:ph type="title"/>
          </p:nvPr>
        </p:nvSpPr>
        <p:spPr>
          <a:xfrm>
            <a:off x="1471866" y="524937"/>
            <a:ext cx="733361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8"/>
          <p:cNvSpPr txBox="1"/>
          <p:nvPr>
            <p:ph idx="1" type="body"/>
          </p:nvPr>
        </p:nvSpPr>
        <p:spPr>
          <a:xfrm>
            <a:off x="1383153" y="1826102"/>
            <a:ext cx="7835900" cy="361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8"/>
          <p:cNvSpPr txBox="1"/>
          <p:nvPr>
            <p:ph idx="11" type="ftr"/>
          </p:nvPr>
        </p:nvSpPr>
        <p:spPr>
          <a:xfrm>
            <a:off x="7017475" y="6835318"/>
            <a:ext cx="2084070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8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8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1"/>
          <p:cNvGrpSpPr/>
          <p:nvPr/>
        </p:nvGrpSpPr>
        <p:grpSpPr>
          <a:xfrm>
            <a:off x="520636" y="165099"/>
            <a:ext cx="9639300" cy="7226300"/>
            <a:chOff x="520636" y="165099"/>
            <a:chExt cx="9639300" cy="7226300"/>
          </a:xfrm>
        </p:grpSpPr>
        <p:sp>
          <p:nvSpPr>
            <p:cNvPr id="46" name="Google Shape;46;p1"/>
            <p:cNvSpPr/>
            <p:nvPr/>
          </p:nvSpPr>
          <p:spPr>
            <a:xfrm>
              <a:off x="520636" y="2959099"/>
              <a:ext cx="3759200" cy="4432300"/>
            </a:xfrm>
            <a:custGeom>
              <a:rect b="b" l="l" r="r" t="t"/>
              <a:pathLst>
                <a:path extrusionOk="0" h="4432300" w="3759200">
                  <a:moveTo>
                    <a:pt x="0" y="0"/>
                  </a:moveTo>
                  <a:lnTo>
                    <a:pt x="0" y="4432300"/>
                  </a:lnTo>
                  <a:lnTo>
                    <a:pt x="3759201" y="4432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157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520636" y="165099"/>
              <a:ext cx="9639300" cy="7226300"/>
            </a:xfrm>
            <a:custGeom>
              <a:rect b="b" l="l" r="r" t="t"/>
              <a:pathLst>
                <a:path extrusionOk="0" h="7226300" w="9639300">
                  <a:moveTo>
                    <a:pt x="8155181" y="0"/>
                  </a:moveTo>
                  <a:lnTo>
                    <a:pt x="0" y="7226300"/>
                  </a:lnTo>
                  <a:lnTo>
                    <a:pt x="9639300" y="7226300"/>
                  </a:lnTo>
                  <a:lnTo>
                    <a:pt x="9639300" y="974"/>
                  </a:lnTo>
                  <a:lnTo>
                    <a:pt x="8155181" y="0"/>
                  </a:lnTo>
                  <a:close/>
                </a:path>
              </a:pathLst>
            </a:custGeom>
            <a:solidFill>
              <a:srgbClr val="FEB80A">
                <a:alpha val="79215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8" name="Google Shape;48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29562" y="677181"/>
              <a:ext cx="5678340" cy="454943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>
            <p:ph type="title"/>
          </p:nvPr>
        </p:nvSpPr>
        <p:spPr>
          <a:xfrm>
            <a:off x="1289784" y="524937"/>
            <a:ext cx="858573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54" name="Google Shape;54;p2"/>
          <p:cNvSpPr txBox="1"/>
          <p:nvPr/>
        </p:nvSpPr>
        <p:spPr>
          <a:xfrm>
            <a:off x="1289784" y="1231253"/>
            <a:ext cx="7275300" cy="3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3.1. INTRODUCCIÓN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Un objeto es una colección de: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Propiedades (valores).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Métodos (funciones).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Eventos (acciones).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12700" marR="5080" rtl="0" algn="l">
              <a:lnSpc>
                <a:spcPct val="279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Para acceder a una propiedad o método de un objeto hay que utilizar el punto (.)  Objeto.propiedad;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Objeto.método([argumentos]);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1660" y="1797503"/>
            <a:ext cx="7712001" cy="355443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 txBox="1"/>
          <p:nvPr>
            <p:ph type="title"/>
          </p:nvPr>
        </p:nvSpPr>
        <p:spPr>
          <a:xfrm>
            <a:off x="1241660" y="524937"/>
            <a:ext cx="8383604" cy="335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61" name="Google Shape;61;p3"/>
          <p:cNvSpPr txBox="1"/>
          <p:nvPr/>
        </p:nvSpPr>
        <p:spPr>
          <a:xfrm>
            <a:off x="1241660" y="1165923"/>
            <a:ext cx="3023132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3.1. INTRODUCCIÓN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/>
          <p:nvPr>
            <p:ph type="title"/>
          </p:nvPr>
        </p:nvSpPr>
        <p:spPr>
          <a:xfrm>
            <a:off x="1471866" y="524937"/>
            <a:ext cx="8432530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67" name="Google Shape;67;p4"/>
          <p:cNvSpPr txBox="1"/>
          <p:nvPr/>
        </p:nvSpPr>
        <p:spPr>
          <a:xfrm>
            <a:off x="1471866" y="1044987"/>
            <a:ext cx="4411980" cy="3328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Los objetos nativos no dependen del navegador: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Date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Math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Number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String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12700" marR="1734185" rtl="0" algn="l">
              <a:lnSpc>
                <a:spcPct val="137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Sintaxis para crear un objeto:  Var miObjeto = new Objeto();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/>
        </p:nvSpPr>
        <p:spPr>
          <a:xfrm>
            <a:off x="1471866" y="1599361"/>
            <a:ext cx="1572670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Instanciación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1375614" y="2319950"/>
            <a:ext cx="7064375" cy="173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1275">
            <a:spAutoFit/>
          </a:bodyPr>
          <a:lstStyle/>
          <a:p>
            <a:pPr indent="-30480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var d = new Date();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var d = new Date(milisegundos);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var d = new Date(cadena de Fecha);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55600" lvl="0" marL="368300" marR="0" rtl="0" algn="l">
              <a:lnSpc>
                <a:spcPct val="118823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var d = new Date(año, mes, día, horas, minutos, segundos, milisegundos);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368300" marR="0" rtl="0" algn="l">
              <a:lnSpc>
                <a:spcPct val="11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// (el mes comienza en 0, Enero sería 0, Febrero 1, etc.)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1471866" y="524937"/>
            <a:ext cx="8548033" cy="335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75" name="Google Shape;75;p5"/>
          <p:cNvSpPr txBox="1"/>
          <p:nvPr/>
        </p:nvSpPr>
        <p:spPr>
          <a:xfrm>
            <a:off x="1471866" y="948622"/>
            <a:ext cx="4322542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7156584" y="1559991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889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Date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/>
        </p:nvSpPr>
        <p:spPr>
          <a:xfrm>
            <a:off x="1471866" y="1347086"/>
            <a:ext cx="1848850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Propiedades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82" name="Google Shape;82;p6"/>
          <p:cNvSpPr txBox="1"/>
          <p:nvPr>
            <p:ph type="title"/>
          </p:nvPr>
        </p:nvSpPr>
        <p:spPr>
          <a:xfrm>
            <a:off x="1471866" y="524937"/>
            <a:ext cx="8653911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1471865" y="854993"/>
            <a:ext cx="4543923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889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Date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85" name="Google Shape;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736" y="2374899"/>
            <a:ext cx="7975600" cy="1320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" name="Google Shape;86;p6"/>
          <p:cNvGraphicFramePr/>
          <p:nvPr/>
        </p:nvGraphicFramePr>
        <p:xfrm>
          <a:off x="1383153" y="2425280"/>
          <a:ext cx="3000000" cy="3000000"/>
        </p:xfrm>
        <a:graphic>
          <a:graphicData uri="http://schemas.openxmlformats.org/drawingml/2006/table">
            <a:tbl>
              <a:tblPr bandRow="1" firstRow="1">
                <a:gradFill>
                  <a:gsLst>
                    <a:gs pos="0">
                      <a:srgbClr val="9BE9FF"/>
                    </a:gs>
                    <a:gs pos="35000">
                      <a:srgbClr val="B8F1FF"/>
                    </a:gs>
                    <a:gs pos="100000">
                      <a:srgbClr val="E2FBFF"/>
                    </a:gs>
                  </a:gsLst>
                  <a:lin ang="16200000" scaled="0"/>
                </a:gradFill>
                <a:tableStyleId>{D9DCC02D-A91B-4BEF-9B40-9E9CB074C1E4}</a:tableStyleId>
              </a:tblPr>
              <a:tblGrid>
                <a:gridCol w="1471925"/>
                <a:gridCol w="6349375"/>
              </a:tblGrid>
              <a:tr h="390750">
                <a:tc gridSpan="2"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Propiedad	Descripción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/>
                </a:tc>
                <a:tc hMerge="1"/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constructor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Devuelve la función que creó el objeto Date.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prototype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2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Te permitirá añadir propiedades y métodos a un objeto.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20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/>
        </p:nvSpPr>
        <p:spPr>
          <a:xfrm>
            <a:off x="1471865" y="1347086"/>
            <a:ext cx="1810349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Métodos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92" name="Google Shape;92;p7"/>
          <p:cNvSpPr txBox="1"/>
          <p:nvPr>
            <p:ph type="title"/>
          </p:nvPr>
        </p:nvSpPr>
        <p:spPr>
          <a:xfrm>
            <a:off x="1471866" y="524937"/>
            <a:ext cx="899079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93" name="Google Shape;93;p7"/>
          <p:cNvSpPr txBox="1"/>
          <p:nvPr/>
        </p:nvSpPr>
        <p:spPr>
          <a:xfrm>
            <a:off x="1471865" y="854993"/>
            <a:ext cx="5092563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889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Date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736" y="1777999"/>
            <a:ext cx="7975600" cy="3657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7"/>
          <p:cNvGraphicFramePr/>
          <p:nvPr/>
        </p:nvGraphicFramePr>
        <p:xfrm>
          <a:off x="1383153" y="18261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{D9DCC02D-A91B-4BEF-9B40-9E9CB074C1E4}</a:tableStyleId>
              </a:tblPr>
              <a:tblGrid>
                <a:gridCol w="2493000"/>
                <a:gridCol w="5328275"/>
              </a:tblGrid>
              <a:tr h="390750">
                <a:tc gridSpan="2"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Método	            Descripción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  <a:tc hMerge="1"/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getDate()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Devuelve el día del mes (de 1-31).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getDay()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Devuelve el día de la semana (de 0-6).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getFullYear()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Devuelve el año (4 dígitos).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getHours()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2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Devuelve la hora (de 0-23).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20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getMilliseconds()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2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Devuelve los milisegundos (de 0-999).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20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getMinutes()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2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Devuelve los minutos (de 0-59).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20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getMonth()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2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Devuelve el mes (de 0-11).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20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getSeconds()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55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Devuelve los segundos (de 0-59).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555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 txBox="1"/>
          <p:nvPr/>
        </p:nvSpPr>
        <p:spPr>
          <a:xfrm>
            <a:off x="1471866" y="1347086"/>
            <a:ext cx="2609246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Métodos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1471866" y="524937"/>
            <a:ext cx="860578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103" name="Google Shape;103;p8"/>
          <p:cNvSpPr txBox="1"/>
          <p:nvPr/>
        </p:nvSpPr>
        <p:spPr>
          <a:xfrm>
            <a:off x="1471865" y="854993"/>
            <a:ext cx="4842307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889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Date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105" name="Google Shape;1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236" y="1803399"/>
            <a:ext cx="7912100" cy="3619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" name="Google Shape;106;p8"/>
          <p:cNvGraphicFramePr/>
          <p:nvPr/>
        </p:nvGraphicFramePr>
        <p:xfrm>
          <a:off x="1450892" y="1853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{D9DCC02D-A91B-4BEF-9B40-9E9CB074C1E4}</a:tableStyleId>
              </a:tblPr>
              <a:tblGrid>
                <a:gridCol w="1741800"/>
                <a:gridCol w="6011550"/>
              </a:tblGrid>
              <a:tr h="3639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Método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Descripción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</a:tr>
              <a:tr h="3639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getTime()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17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los milisegundos desde media noche del 1 de Enero de 1970.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1750" marB="0" marR="0" marL="0"/>
                </a:tc>
              </a:tr>
              <a:tr h="56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t/>
                      </a:r>
                      <a:endParaRPr sz="1150" u="none" cap="none" strike="noStrike"/>
                    </a:p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getTimezoneOffset()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72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t/>
                      </a:r>
                      <a:endParaRPr sz="1150" u="none" cap="none" strike="noStrike"/>
                    </a:p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la diferencia de tiempo entre GMT y la hora local, en minutos.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725" marB="0" marR="0" marL="0"/>
                </a:tc>
              </a:tr>
              <a:tr h="3639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getUTCDate()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11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día del mes en base a la hora UTC (de 1-31).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1125" marB="0" marR="0" marL="0"/>
                </a:tc>
              </a:tr>
              <a:tr h="3639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getUTCDay()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11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día de la semana en base a la hora UTC (de 0-6).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1125" marB="0" marR="0" marL="0"/>
                </a:tc>
              </a:tr>
              <a:tr h="3639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getUTCFullYear()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11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año en base a la hora UTC (4 dígitos).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1125" marB="0" marR="0" marL="0"/>
                </a:tc>
              </a:tr>
              <a:tr h="3639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setDate()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11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Ajusta el día del mes del objeto (de 1-31).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1125" marB="0" marR="0" marL="0"/>
                </a:tc>
              </a:tr>
              <a:tr h="3639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setFullYear()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047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Ajusta el año del objeto (4 dígitos).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0475" marB="0" marR="0" marL="0"/>
                </a:tc>
              </a:tr>
              <a:tr h="3639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setHours()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047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Ajusta la hora del objeto (de 0-23).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0475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/>
          <p:nvPr/>
        </p:nvSpPr>
        <p:spPr>
          <a:xfrm>
            <a:off x="1725866" y="1986885"/>
            <a:ext cx="7161530" cy="1276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EJERCICIO: u3e1_fincurso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19100" marR="5080" rtl="0" algn="l">
              <a:lnSpc>
                <a:spcPct val="117647"/>
              </a:lnSpc>
              <a:spcBef>
                <a:spcPts val="355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Crea un programa que muestre el número de días que quedan desde  hoy hasta Nochevieja.</a:t>
            </a:r>
            <a:endParaRPr/>
          </a:p>
          <a:p>
            <a:pPr indent="-165100" lvl="0" marL="4191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Recuerda que los meses empiezan desde el número 0.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12" name="Google Shape;112;p9"/>
          <p:cNvSpPr txBox="1"/>
          <p:nvPr>
            <p:ph type="title"/>
          </p:nvPr>
        </p:nvSpPr>
        <p:spPr>
          <a:xfrm>
            <a:off x="1471866" y="524937"/>
            <a:ext cx="8596159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113" name="Google Shape;113;p9"/>
          <p:cNvSpPr txBox="1"/>
          <p:nvPr/>
        </p:nvSpPr>
        <p:spPr>
          <a:xfrm>
            <a:off x="1471866" y="854993"/>
            <a:ext cx="4717178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889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Date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 txBox="1"/>
          <p:nvPr/>
        </p:nvSpPr>
        <p:spPr>
          <a:xfrm>
            <a:off x="1725866" y="1986885"/>
            <a:ext cx="721360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EJERCICIO: u3e2_domingos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19100" marR="5080" rtl="0" algn="l">
              <a:lnSpc>
                <a:spcPct val="117647"/>
              </a:lnSpc>
              <a:spcBef>
                <a:spcPts val="355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Crea un programa que pida por parámetro tu cumpleaños (no hace falta el  año) y saque todos los años en que tu cumpleaños va a caer en domingo  desde este año hasta el año 2100.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191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Recuerda que los meses empiezan desde el número 0.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20" name="Google Shape;120;p10"/>
          <p:cNvSpPr txBox="1"/>
          <p:nvPr>
            <p:ph type="title"/>
          </p:nvPr>
        </p:nvSpPr>
        <p:spPr>
          <a:xfrm>
            <a:off x="1471866" y="524937"/>
            <a:ext cx="8750163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121" name="Google Shape;121;p10"/>
          <p:cNvSpPr txBox="1"/>
          <p:nvPr/>
        </p:nvSpPr>
        <p:spPr>
          <a:xfrm>
            <a:off x="1471865" y="854993"/>
            <a:ext cx="4755679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22" name="Google Shape;122;p10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889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Date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/>
        </p:nvSpPr>
        <p:spPr>
          <a:xfrm>
            <a:off x="1725866" y="1986885"/>
            <a:ext cx="7444105" cy="1764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EJERCICIO: u3e3_formatofechas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19100" marR="5080" rtl="0" algn="l">
              <a:lnSpc>
                <a:spcPct val="117647"/>
              </a:lnSpc>
              <a:spcBef>
                <a:spcPts val="355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Crea un programa que muestre la fecha actual en diferentes formatos, según  el valor que meta el usuario por parámetro: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1) 17/02/2016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2) Miércoles, 17 de febrero de 2016.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3) Wednesday, February 17, 2016.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28" name="Google Shape;128;p11"/>
          <p:cNvSpPr txBox="1"/>
          <p:nvPr>
            <p:ph type="title"/>
          </p:nvPr>
        </p:nvSpPr>
        <p:spPr>
          <a:xfrm>
            <a:off x="1471866" y="524937"/>
            <a:ext cx="862503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129" name="Google Shape;129;p11"/>
          <p:cNvSpPr txBox="1"/>
          <p:nvPr/>
        </p:nvSpPr>
        <p:spPr>
          <a:xfrm>
            <a:off x="1471865" y="854993"/>
            <a:ext cx="478455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30" name="Google Shape;130;p11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889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Date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/>
        </p:nvSpPr>
        <p:spPr>
          <a:xfrm>
            <a:off x="1725866" y="1986885"/>
            <a:ext cx="7488555" cy="1713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EJERCICIO: u3e4_formatohoras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19100" marR="137795" rtl="0" algn="l">
              <a:lnSpc>
                <a:spcPct val="117647"/>
              </a:lnSpc>
              <a:spcBef>
                <a:spcPts val="355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Crea un programa que muestre la hora actual en diferentes formatos, según  el valor que meta el usuario por parámetro: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1) 14:35:07 (hora detallada con minutos y segundos)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5080" rtl="0" algn="l">
              <a:lnSpc>
                <a:spcPct val="117647"/>
              </a:lnSpc>
              <a:spcBef>
                <a:spcPts val="36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2) 02:35 PM o 02:35:07 AM (hora con minutos y AM o PM según sea antes  o después del medio día).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36" name="Google Shape;136;p12"/>
          <p:cNvSpPr txBox="1"/>
          <p:nvPr>
            <p:ph type="title"/>
          </p:nvPr>
        </p:nvSpPr>
        <p:spPr>
          <a:xfrm>
            <a:off x="1471866" y="524937"/>
            <a:ext cx="8576909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137" name="Google Shape;137;p12"/>
          <p:cNvSpPr txBox="1"/>
          <p:nvPr/>
        </p:nvSpPr>
        <p:spPr>
          <a:xfrm>
            <a:off x="1471866" y="854993"/>
            <a:ext cx="4794180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889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Date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/>
          <p:nvPr/>
        </p:nvSpPr>
        <p:spPr>
          <a:xfrm>
            <a:off x="1471866" y="1347086"/>
            <a:ext cx="2426366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Instanciación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1471866" y="2108751"/>
            <a:ext cx="7479030" cy="1275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-304800" lvl="0" marL="317500" marR="5080" rtl="0" algn="l">
              <a:lnSpc>
                <a:spcPct val="1028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No es un constructor, no podemos crear objetos de tipo Math. Pero sí podemos  llamar a propiedades o métodos.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var pi = Math.PI;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var x= Math.sqrt(16);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45" name="Google Shape;145;p13"/>
          <p:cNvSpPr txBox="1"/>
          <p:nvPr>
            <p:ph type="title"/>
          </p:nvPr>
        </p:nvSpPr>
        <p:spPr>
          <a:xfrm>
            <a:off x="1471866" y="524937"/>
            <a:ext cx="8576909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146" name="Google Shape;146;p13"/>
          <p:cNvSpPr txBox="1"/>
          <p:nvPr/>
        </p:nvSpPr>
        <p:spPr>
          <a:xfrm>
            <a:off x="1471865" y="854993"/>
            <a:ext cx="476530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Math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/>
          <p:nvPr/>
        </p:nvSpPr>
        <p:spPr>
          <a:xfrm>
            <a:off x="1471865" y="1347086"/>
            <a:ext cx="2532243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Propiedades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53" name="Google Shape;153;p14"/>
          <p:cNvSpPr txBox="1"/>
          <p:nvPr>
            <p:ph type="title"/>
          </p:nvPr>
        </p:nvSpPr>
        <p:spPr>
          <a:xfrm>
            <a:off x="1471866" y="524937"/>
            <a:ext cx="8663536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1471866" y="854993"/>
            <a:ext cx="5111814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Math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graphicFrame>
        <p:nvGraphicFramePr>
          <p:cNvPr id="156" name="Google Shape;156;p14"/>
          <p:cNvGraphicFramePr/>
          <p:nvPr/>
        </p:nvGraphicFramePr>
        <p:xfrm>
          <a:off x="1383153" y="18359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{D9DCC02D-A91B-4BEF-9B40-9E9CB074C1E4}</a:tableStyleId>
              </a:tblPr>
              <a:tblGrid>
                <a:gridCol w="1224275"/>
                <a:gridCol w="6600825"/>
              </a:tblGrid>
              <a:tr h="576000">
                <a:tc>
                  <a:txBody>
                    <a:bodyPr/>
                    <a:lstStyle/>
                    <a:p>
                      <a:pPr indent="0" lvl="0" marL="95885" marR="217804" rtl="0" algn="l">
                        <a:lnSpc>
                          <a:spcPct val="100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Propiedad</a:t>
                      </a:r>
                      <a:endParaRPr sz="14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 anchor="ctr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Descripción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84150" marB="0" marR="0" marL="0" anchor="ctr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E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7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Devuelve el número Euler (aproximadamente 2.718).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70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LN2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7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Devuelve el logaritmo neperiano de 2 ( aproximadamente 0.693).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70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LN10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7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Devuelve el logaritmo neperiano de 10 ( aproximadamente 2.302).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70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LOG2E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07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Devuelve el logaritmo base 2 de E ( aproximadamente 1.442).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075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LOG10E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07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Devuelve el logaritmo base 10 de E ( aproximadamente 0.434).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075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PI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07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Devuelve el número PI ( aproximadamente 3.14159).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075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SQRT2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07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Devuelve la raíz cuadrada de 2 ( aproximadamente 1.414).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075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/>
        </p:nvSpPr>
        <p:spPr>
          <a:xfrm>
            <a:off x="1471866" y="1347086"/>
            <a:ext cx="2233860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Métodos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62" name="Google Shape;162;p15"/>
          <p:cNvSpPr txBox="1"/>
          <p:nvPr>
            <p:ph type="title"/>
          </p:nvPr>
        </p:nvSpPr>
        <p:spPr>
          <a:xfrm>
            <a:off x="1471866" y="524937"/>
            <a:ext cx="9221534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1471865" y="854993"/>
            <a:ext cx="622834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Math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736" y="1777999"/>
            <a:ext cx="7975600" cy="368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8173" y="1826102"/>
            <a:ext cx="7823199" cy="3543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7" name="Google Shape;167;p15"/>
          <p:cNvGraphicFramePr/>
          <p:nvPr/>
        </p:nvGraphicFramePr>
        <p:xfrm>
          <a:off x="1383153" y="18210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{D9DCC02D-A91B-4BEF-9B40-9E9CB074C1E4}</a:tableStyleId>
              </a:tblPr>
              <a:tblGrid>
                <a:gridCol w="1424950"/>
                <a:gridCol w="6395725"/>
              </a:tblGrid>
              <a:tr h="39042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Método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937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Descripción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9375" marB="0" marR="0" marL="0"/>
                </a:tc>
              </a:tr>
              <a:tr h="2890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abs(x)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valor absoluto de x.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</a:tr>
              <a:tr h="2890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acos(x)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arcocoseno de x, en radianes.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</a:tr>
              <a:tr h="2890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asin(x)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arcoseno de x, en radianes.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atan(x)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257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arcotangente de x, en radianes con un valor entre -PI/2 y PI/2.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25725" marB="0" marR="0" marL="0"/>
                </a:tc>
              </a:tr>
              <a:tr h="2890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atan2(y,x)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6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arcotangente del cociente de sus argumentos.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650" marB="0" marR="0" marL="0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ceil(x)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257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número x redondeado al alta hacia el siguiente entero.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25725" marB="0" marR="0" marL="0"/>
                </a:tc>
              </a:tr>
              <a:tr h="2890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cos(x)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6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coseno de x (x está en radianes).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650" marB="0" marR="0" marL="0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floor(x)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251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número x redondeado a la baja hacia el anterior entero.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25100" marB="0" marR="0" marL="0"/>
                </a:tc>
              </a:tr>
              <a:tr h="2890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log(x)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0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logaritmo neperiando (base E) de x.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025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/>
        </p:nvSpPr>
        <p:spPr>
          <a:xfrm>
            <a:off x="1471866" y="1347086"/>
            <a:ext cx="2137608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Métodos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73" name="Google Shape;173;p16"/>
          <p:cNvSpPr txBox="1"/>
          <p:nvPr>
            <p:ph type="title"/>
          </p:nvPr>
        </p:nvSpPr>
        <p:spPr>
          <a:xfrm>
            <a:off x="1471866" y="524937"/>
            <a:ext cx="8499907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1471866" y="854993"/>
            <a:ext cx="4900058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Math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176" name="Google Shape;1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736" y="1777999"/>
            <a:ext cx="7975600" cy="3670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" name="Google Shape;177;p16"/>
          <p:cNvGraphicFramePr/>
          <p:nvPr/>
        </p:nvGraphicFramePr>
        <p:xfrm>
          <a:off x="1383153" y="18261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{D9DCC02D-A91B-4BEF-9B40-9E9CB074C1E4}</a:tableStyleId>
              </a:tblPr>
              <a:tblGrid>
                <a:gridCol w="1424950"/>
                <a:gridCol w="6395725"/>
              </a:tblGrid>
              <a:tr h="4095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Método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Descripción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max(x,y,z,...,n)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Devuelve el número más alto de los que se pasan como parámetros.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min(x,y,z,...,n)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Devuelve el número más bajo de los que se pasan como parámetros.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pow(x,y)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Devuelve el resultado de x elevado a y.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</a:tr>
              <a:tr h="5025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random()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244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Devuelve un número al azar entre 0 y 1.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2445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round(x)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6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Redondea x al entero más próximo.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650" marB="0" marR="0" marL="0"/>
                </a:tc>
              </a:tr>
              <a:tr h="5025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sin(x)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238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Devuelve el seno de x (x está en radianes).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23825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sqrt(x)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0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Devuelve la raíz cuadrada de x.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025" marB="0" marR="0" marL="0"/>
                </a:tc>
              </a:tr>
              <a:tr h="5025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tan(x)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238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Devuelve la tangente de un ángulo.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23825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1725866" y="1842168"/>
            <a:ext cx="7338059" cy="3174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EJERCICIO: u3e5_math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191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Crea un programa que pida al usuario que elija una opción del siguiente menú: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1) Potencia.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2) Raíz.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3) Redondeo.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4) Trigonometría.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19100" marR="632460" rtl="0" algn="l">
              <a:lnSpc>
                <a:spcPct val="78100"/>
              </a:lnSpc>
              <a:spcBef>
                <a:spcPts val="409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Si el usuario introduce 1, se le deberá pedir una base y un exponente y se  mostrará el resultado en pantalla (La potencia de X elevado a Y es: )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19100" marR="208915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Si el usuario introduce 2, se le pedirá un número (no negativo) y se mostrará el  resultado en pantalla (La raíz de X es: )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19100" marR="272415" rtl="0" algn="l">
              <a:lnSpc>
                <a:spcPct val="78100"/>
              </a:lnSpc>
              <a:spcBef>
                <a:spcPts val="30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Si el usuario introduce 3, se le pedirá un decimal por pantalla y se mostrará el  redondeo al entero más próximo, al alta y a la baja.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19100" marR="508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Si el usuario introduce 4, se le pedirá un ángulo (entre 0 y 360) y se le mostrarán  por pantalla los valores trigonométricos del seno, coseno y tangente.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83" name="Google Shape;183;p17"/>
          <p:cNvSpPr txBox="1"/>
          <p:nvPr>
            <p:ph type="title"/>
          </p:nvPr>
        </p:nvSpPr>
        <p:spPr>
          <a:xfrm>
            <a:off x="1471866" y="524937"/>
            <a:ext cx="8673161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1471865" y="854993"/>
            <a:ext cx="5775957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Math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/>
        </p:nvSpPr>
        <p:spPr>
          <a:xfrm>
            <a:off x="1687766" y="1842168"/>
            <a:ext cx="7410450" cy="3204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1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EJERCICIO: u3e6_circulo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572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Crea un programa que pida al usuario el valor del radio y muestre por pantalla: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98500" marR="0" rtl="0" algn="l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El valor del radio.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98500" marR="0" rtl="0" algn="l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El valor del diámetro.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985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El valor del perímetro de la circunferencia.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98500" marR="0" rtl="0" algn="l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El valor del área del círculo.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98500" marR="0" rtl="0" algn="l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El valor del área de la esfera.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98500" marR="0" rtl="0" algn="l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El valor del volumen de la esfera.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57200" marR="0" rtl="0" algn="l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El valor de Pi debes obtenerlo del objeto Math, no introducirlo manualmente.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5720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Debes escribir al lado si son cm, o cm</a:t>
            </a:r>
            <a:r>
              <a:rPr b="0" baseline="30000" i="1" lang="en-US" sz="16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</a:t>
            </a: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, o cm</a:t>
            </a:r>
            <a:r>
              <a:rPr b="0" baseline="30000" i="1" lang="en-US" sz="16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</a:t>
            </a: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EA157A"/>
              </a:buClr>
              <a:buSzPts val="19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57200" marR="17780" rtl="0" algn="l">
              <a:lnSpc>
                <a:spcPct val="78100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Como datos de muestra, si metes 5, deberías obtener aproximadamente: 5 / 10 /  31,41 / 78,54 / 314,15 / 523,59.</a:t>
            </a:r>
            <a:endParaRPr b="0" i="0" sz="14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91" name="Google Shape;191;p18"/>
          <p:cNvSpPr txBox="1"/>
          <p:nvPr>
            <p:ph type="title"/>
          </p:nvPr>
        </p:nvSpPr>
        <p:spPr>
          <a:xfrm>
            <a:off x="1471866" y="524937"/>
            <a:ext cx="8923418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471865" y="854993"/>
            <a:ext cx="4813431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Math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/>
        </p:nvSpPr>
        <p:spPr>
          <a:xfrm>
            <a:off x="1471866" y="1347086"/>
            <a:ext cx="2503368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Instanciación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1471866" y="1999580"/>
            <a:ext cx="7559675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1275">
            <a:spAutoFit/>
          </a:bodyPr>
          <a:lstStyle/>
          <a:p>
            <a:pPr indent="-30480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No se suele utilizar: normalmente asignamos valores numéricos a una variable: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var num = new Number (value);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Si el parámetro que se pasa al constructor no se puede convertir devuelve NaN.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00" name="Google Shape;200;p19"/>
          <p:cNvSpPr txBox="1"/>
          <p:nvPr>
            <p:ph type="title"/>
          </p:nvPr>
        </p:nvSpPr>
        <p:spPr>
          <a:xfrm>
            <a:off x="1471866" y="524937"/>
            <a:ext cx="8702037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1471865" y="854993"/>
            <a:ext cx="5256193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37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Number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/>
          <p:nvPr/>
        </p:nvSpPr>
        <p:spPr>
          <a:xfrm>
            <a:off x="1471866" y="1347086"/>
            <a:ext cx="2233860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Propiedades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1471866" y="524937"/>
            <a:ext cx="8981170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1471865" y="854993"/>
            <a:ext cx="4389919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37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Number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736" y="1943099"/>
            <a:ext cx="8039100" cy="28701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2" name="Google Shape;212;p20"/>
          <p:cNvGraphicFramePr/>
          <p:nvPr/>
        </p:nvGraphicFramePr>
        <p:xfrm>
          <a:off x="1383151" y="1985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{D9DCC02D-A91B-4BEF-9B40-9E9CB074C1E4}</a:tableStyleId>
              </a:tblPr>
              <a:tblGrid>
                <a:gridCol w="1739275"/>
                <a:gridCol w="6145525"/>
              </a:tblGrid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Propiedad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Descripción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constructor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92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Devuelve la función que creó el objeto Number.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9225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MAX_VALUE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857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Devuelve el número más alto disponible en JavaScript.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8575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MIN_VALUE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857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Devuelve el número más pequeño disponible en JavaScript.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8575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NEGATIVE_INFINITY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857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Representa a infinito negativo (se devuelve en caso de overflow).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8575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POSITIVE_INFINITY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857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Representa a infinito positivo (se devuelve en caso de overflow).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8575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prototype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79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Permite añadir nuestras propias propiedades y métodos a un objeto.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795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/>
        </p:nvSpPr>
        <p:spPr>
          <a:xfrm>
            <a:off x="1471865" y="1347086"/>
            <a:ext cx="2772875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Métodos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18" name="Google Shape;218;p21"/>
          <p:cNvSpPr txBox="1"/>
          <p:nvPr>
            <p:ph type="title"/>
          </p:nvPr>
        </p:nvSpPr>
        <p:spPr>
          <a:xfrm>
            <a:off x="1471866" y="524937"/>
            <a:ext cx="8557658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1471865" y="854993"/>
            <a:ext cx="4890433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37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Number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736" y="1777999"/>
            <a:ext cx="8089900" cy="31495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2" name="Google Shape;222;p21"/>
          <p:cNvGraphicFramePr/>
          <p:nvPr/>
        </p:nvGraphicFramePr>
        <p:xfrm>
          <a:off x="1383153" y="17972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{D9DCC02D-A91B-4BEF-9B40-9E9CB074C1E4}</a:tableStyleId>
              </a:tblPr>
              <a:tblGrid>
                <a:gridCol w="1706550"/>
                <a:gridCol w="6237300"/>
              </a:tblGrid>
              <a:tr h="353650">
                <a:tc gridSpan="2"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Método	              Descripción</a:t>
                      </a:r>
                      <a:endParaRPr sz="16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 anchor="ctr"/>
                </a:tc>
                <a:tc hMerge="1"/>
              </a:tr>
              <a:tr h="5781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toExponential(x)</a:t>
                      </a:r>
                      <a:endParaRPr sz="16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 anchor="ctr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Convierte un número a su notación exponencial.</a:t>
                      </a:r>
                      <a:endParaRPr sz="16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54950" marB="0" marR="0" marL="0" anchor="ctr"/>
                </a:tc>
              </a:tr>
              <a:tr h="33722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toFixed(x)</a:t>
                      </a:r>
                      <a:endParaRPr sz="16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 anchor="ctr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Formatea un número con x digitos decimales después del punto decimal.</a:t>
                      </a:r>
                      <a:endParaRPr sz="16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 anchor="ctr"/>
                </a:tc>
              </a:tr>
              <a:tr h="33722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toPrecision(x)</a:t>
                      </a:r>
                      <a:endParaRPr sz="16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650" marB="0" marR="0" marL="0" anchor="ctr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Formatea un número a la longitud x.</a:t>
                      </a:r>
                      <a:endParaRPr sz="16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650" marB="0" marR="0" marL="0" anchor="ctr"/>
                </a:tc>
              </a:tr>
              <a:tr h="105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104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toString()</a:t>
                      </a:r>
                      <a:endParaRPr sz="16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Convierte un objeto Number en una cadena.</a:t>
                      </a:r>
                      <a:endParaRPr sz="1600" u="none" cap="none" strike="noStrike"/>
                    </a:p>
                    <a:p>
                      <a:pPr indent="-95250" lvl="0" marL="172085" marR="0" rtl="0" algn="l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Char char="•"/>
                      </a:pPr>
                      <a:r>
                        <a:rPr lang="en-US" sz="1600" u="none" cap="none" strike="noStrike"/>
                        <a:t>Si se pone 2 como parámetro se mostrará el número en binario.</a:t>
                      </a:r>
                      <a:endParaRPr sz="1600" u="none" cap="none" strike="noStrike"/>
                    </a:p>
                    <a:p>
                      <a:pPr indent="-95250" lvl="0" marL="172085" marR="0" rtl="0" algn="l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Char char="•"/>
                      </a:pPr>
                      <a:r>
                        <a:rPr lang="en-US" sz="1600" u="none" cap="none" strike="noStrike"/>
                        <a:t>Si se pone 8 como parámetro se mostrará el número en octal.</a:t>
                      </a:r>
                      <a:endParaRPr sz="1600" u="none" cap="none" strike="noStrike"/>
                    </a:p>
                    <a:p>
                      <a:pPr indent="-95250" lvl="0" marL="17208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Char char="•"/>
                      </a:pPr>
                      <a:r>
                        <a:rPr lang="en-US" sz="1600" u="none" cap="none" strike="noStrike"/>
                        <a:t>Si se pone 16 como parámetro se mostrará el número en hexadecimal.</a:t>
                      </a:r>
                      <a:endParaRPr sz="16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650" marB="0" marR="0" marL="0" anchor="ctr"/>
                </a:tc>
              </a:tr>
              <a:tr h="33722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valueOf()</a:t>
                      </a:r>
                      <a:endParaRPr sz="16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025" marB="0" marR="0" marL="0" anchor="ctr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Devuelve el valor primitivo de un objeto Number.</a:t>
                      </a:r>
                      <a:endParaRPr sz="16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025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/>
        </p:nvSpPr>
        <p:spPr>
          <a:xfrm>
            <a:off x="1725866" y="1618745"/>
            <a:ext cx="6846570" cy="2437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EJERCICIO: u3e7_number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19100" marR="5080" rtl="0" algn="l">
              <a:lnSpc>
                <a:spcPct val="105882"/>
              </a:lnSpc>
              <a:spcBef>
                <a:spcPts val="415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Crea un programa que pida al usuario un número entero por pantalla y  muestre: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Su valor exponencial.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El número con 4 decimales.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El número en binario.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El número en octal.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El número en hexadecimal.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1910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Utiliza para ello los métodos del objeto Number.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1967166" y="4317581"/>
            <a:ext cx="683069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-165100" lvl="0" marL="177800" marR="508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Como datos de muestra, si metes 50, deberías obtener: 5e1 / 50.0000 /  00110010 / 62 / 0x32.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29" name="Google Shape;229;p22"/>
          <p:cNvSpPr txBox="1"/>
          <p:nvPr>
            <p:ph type="title"/>
          </p:nvPr>
        </p:nvSpPr>
        <p:spPr>
          <a:xfrm>
            <a:off x="1471866" y="524937"/>
            <a:ext cx="9019671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1471866" y="854993"/>
            <a:ext cx="5265818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37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Number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/>
        </p:nvSpPr>
        <p:spPr>
          <a:xfrm>
            <a:off x="1467477" y="1216558"/>
            <a:ext cx="5443462" cy="1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2875">
            <a:spAutoFit/>
          </a:bodyPr>
          <a:lstStyle/>
          <a:p>
            <a:pPr indent="0" lvl="0" marL="165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Instanciación</a:t>
            </a: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: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07950" lvl="0" marL="16510" marR="5080" rtl="0" algn="l">
              <a:lnSpc>
                <a:spcPct val="14370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Convierte un valor no booleano a un valor booleano.  Propiedades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37" name="Google Shape;237;p23"/>
          <p:cNvSpPr txBox="1"/>
          <p:nvPr>
            <p:ph type="title"/>
          </p:nvPr>
        </p:nvSpPr>
        <p:spPr>
          <a:xfrm>
            <a:off x="1471866" y="524937"/>
            <a:ext cx="8596159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1471865" y="854993"/>
            <a:ext cx="4678677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210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Boolean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240" name="Google Shape;2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736" y="2412999"/>
            <a:ext cx="8216900" cy="1320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1" name="Google Shape;241;p23"/>
          <p:cNvGraphicFramePr/>
          <p:nvPr/>
        </p:nvGraphicFramePr>
        <p:xfrm>
          <a:off x="1383151" y="24619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{D9DCC02D-A91B-4BEF-9B40-9E9CB074C1E4}</a:tableStyleId>
              </a:tblPr>
              <a:tblGrid>
                <a:gridCol w="1682125"/>
                <a:gridCol w="6381750"/>
              </a:tblGrid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Propiedad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Descripción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constructor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7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Devuelve la función que creó el objeto Boolean.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70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prototype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7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Te permitirá añadir propiedades y métodos a un objeto.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2700" marB="0" marR="0" marL="0"/>
                </a:tc>
              </a:tr>
            </a:tbl>
          </a:graphicData>
        </a:graphic>
      </p:graphicFrame>
      <p:sp>
        <p:nvSpPr>
          <p:cNvPr id="242" name="Google Shape;242;p23"/>
          <p:cNvSpPr txBox="1"/>
          <p:nvPr/>
        </p:nvSpPr>
        <p:spPr>
          <a:xfrm>
            <a:off x="1471865" y="3742167"/>
            <a:ext cx="1184707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Métodos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0736" y="4140199"/>
            <a:ext cx="8089900" cy="120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8173" y="4191844"/>
            <a:ext cx="7937499" cy="1054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5" name="Google Shape;245;p23"/>
          <p:cNvGraphicFramePr/>
          <p:nvPr/>
        </p:nvGraphicFramePr>
        <p:xfrm>
          <a:off x="1383153" y="4186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{D9DCC02D-A91B-4BEF-9B40-9E9CB074C1E4}</a:tableStyleId>
              </a:tblPr>
              <a:tblGrid>
                <a:gridCol w="1548125"/>
                <a:gridCol w="6395725"/>
              </a:tblGrid>
              <a:tr h="358675">
                <a:tc gridSpan="2"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Método	Descripción</a:t>
                      </a:r>
                      <a:endParaRPr sz="16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8725" marB="0" marR="0" marL="0"/>
                </a:tc>
                <a:tc hMerge="1"/>
              </a:tr>
              <a:tr h="3532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toString()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0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Convierte un valor Boolean a una cadena y devuelve el resultado.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025" marB="0" marR="0" marL="0"/>
                </a:tc>
              </a:tr>
              <a:tr h="35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valueOf()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Devuelve el valor primitivo de un objeto Boolean.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/>
        </p:nvSpPr>
        <p:spPr>
          <a:xfrm>
            <a:off x="1471866" y="1347086"/>
            <a:ext cx="2898003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Instanciación</a:t>
            </a: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: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1471866" y="1720302"/>
            <a:ext cx="7595132" cy="2959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-30480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Podemos utilizar dos maneras:</a:t>
            </a:r>
            <a:endParaRPr b="1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1" marL="622300" marR="0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var txt = new String("string");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1" marL="62230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var txt = "string";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9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Podemos utilizar comillas dobles o simples:</a:t>
            </a:r>
            <a:endParaRPr b="1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1" marL="622300" marR="0" rtl="0" algn="l">
              <a:lnSpc>
                <a:spcPct val="100000"/>
              </a:lnSpc>
              <a:spcBef>
                <a:spcPts val="259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var cadena = '&lt;input type="checkbox" name="coche" /&gt;Audi A6';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1" marL="622300" marR="0" rtl="0" algn="l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var cadena = "&lt;input type='checkbox' name='coche' /&gt;Audi A6";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EA157A"/>
              </a:buClr>
              <a:buSzPts val="225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Podemos utilizar caracteres de escape:</a:t>
            </a:r>
            <a:endParaRPr b="1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1" marL="622300" marR="0" rtl="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var cadena = "&lt;input type=\"checkbox\" name=\"coche\" /&gt;Audi A6";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52" name="Google Shape;252;p24"/>
          <p:cNvSpPr txBox="1"/>
          <p:nvPr>
            <p:ph type="title"/>
          </p:nvPr>
        </p:nvSpPr>
        <p:spPr>
          <a:xfrm>
            <a:off x="1471866" y="524937"/>
            <a:ext cx="878866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1471865" y="854993"/>
            <a:ext cx="4736429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397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String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/>
        </p:nvSpPr>
        <p:spPr>
          <a:xfrm>
            <a:off x="1471866" y="1228234"/>
            <a:ext cx="5323570" cy="73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60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Instanciación</a:t>
            </a:r>
            <a:r>
              <a:rPr b="0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: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Podemos concatenar cadenas muy largas con +=</a:t>
            </a:r>
            <a:endParaRPr b="1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1471866" y="1956418"/>
            <a:ext cx="8172648" cy="2964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04800" lvl="0" marL="622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var nuevoDocumento = "”;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622300" marR="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nuevoDocumento += "&lt;!DOCTYPE html&gt;";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62230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nuevoDocumento += "&lt;html&gt;" ;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62230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nuevoDocumento += "&lt;head&gt;";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6223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nuevoDocumento += '&lt;meta http-equiv="content-type"';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62230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nuevoDocumento += ' content="text/html;charset=utf-8"&gt;';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t/>
            </a:r>
            <a:endParaRPr b="0" i="0" sz="235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Podemos concatenar cadenas con variables:</a:t>
            </a:r>
            <a:endParaRPr b="1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1" marL="62230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nombreEquipo = prompt("Introduce el nombre de tu equipo favorito:","");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1" marL="62230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var mensaje= "El " + nombreEquipo + " ha sido el campeón de la Copa del Rey!";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1" marL="6223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EA157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alert(mensaje);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61" name="Google Shape;261;p25"/>
          <p:cNvSpPr txBox="1"/>
          <p:nvPr>
            <p:ph type="title"/>
          </p:nvPr>
        </p:nvSpPr>
        <p:spPr>
          <a:xfrm>
            <a:off x="1471866" y="524937"/>
            <a:ext cx="8759789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1471866" y="854993"/>
            <a:ext cx="4880808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397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String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1471865" y="524937"/>
            <a:ext cx="8682787" cy="335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1471866" y="854993"/>
            <a:ext cx="4303292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70" name="Google Shape;270;p26"/>
          <p:cNvSpPr txBox="1"/>
          <p:nvPr/>
        </p:nvSpPr>
        <p:spPr>
          <a:xfrm>
            <a:off x="7137334" y="1320799"/>
            <a:ext cx="2070100" cy="331491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210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String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271" name="Google Shape;2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736" y="1714499"/>
            <a:ext cx="8216900" cy="927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2" name="Google Shape;272;p26"/>
          <p:cNvGraphicFramePr/>
          <p:nvPr/>
        </p:nvGraphicFramePr>
        <p:xfrm>
          <a:off x="1383151" y="17654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{D9DCC02D-A91B-4BEF-9B40-9E9CB074C1E4}</a:tableStyleId>
              </a:tblPr>
              <a:tblGrid>
                <a:gridCol w="1682125"/>
                <a:gridCol w="6381750"/>
              </a:tblGrid>
              <a:tr h="390750">
                <a:tc gridSpan="2"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Propiedad	Descripción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/>
                </a:tc>
                <a:tc hMerge="1"/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length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Contiene la longitud de una cadena.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6825" marB="0" marR="0" marL="0"/>
                </a:tc>
              </a:tr>
            </a:tbl>
          </a:graphicData>
        </a:graphic>
      </p:graphicFrame>
      <p:sp>
        <p:nvSpPr>
          <p:cNvPr id="273" name="Google Shape;273;p26"/>
          <p:cNvSpPr txBox="1"/>
          <p:nvPr/>
        </p:nvSpPr>
        <p:spPr>
          <a:xfrm>
            <a:off x="1467477" y="2642897"/>
            <a:ext cx="1997618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Métodos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274" name="Google Shape;27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0736" y="3022599"/>
            <a:ext cx="8089900" cy="24256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5" name="Google Shape;275;p26"/>
          <p:cNvGraphicFramePr/>
          <p:nvPr/>
        </p:nvGraphicFramePr>
        <p:xfrm>
          <a:off x="1383153" y="3076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{D9DCC02D-A91B-4BEF-9B40-9E9CB074C1E4}</a:tableStyleId>
              </a:tblPr>
              <a:tblGrid>
                <a:gridCol w="1548125"/>
                <a:gridCol w="6395725"/>
              </a:tblGrid>
              <a:tr h="3536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Método</a:t>
                      </a:r>
                      <a:endParaRPr sz="16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6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Descripción</a:t>
                      </a:r>
                      <a:endParaRPr sz="16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650" marB="0" marR="0" marL="0"/>
                </a:tc>
              </a:tr>
              <a:tr h="2890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charAt()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6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carácter especificado por la posición que se indica entre paréntesis.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650" marB="0" marR="0" marL="0"/>
                </a:tc>
              </a:tr>
              <a:tr h="481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charCodeAt()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30175" marB="0" marR="0" marL="0"/>
                </a:tc>
                <a:tc>
                  <a:txBody>
                    <a:bodyPr/>
                    <a:lstStyle/>
                    <a:p>
                      <a:pPr indent="0" lvl="0" marL="95885" marR="797560" rtl="0" algn="l">
                        <a:lnSpc>
                          <a:spcPct val="1153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Unicode del carácter especificado por la posición que se indica entre  paréntesis.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46350" marB="0" marR="0" marL="0"/>
                </a:tc>
              </a:tr>
              <a:tr h="2890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concat()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6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Une una o más cadenas y devuelve el resultado de esa unión.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650" marB="0" marR="0" marL="0"/>
                </a:tc>
              </a:tr>
              <a:tr h="2890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fromCharCode()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0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Convierte valores Unicode a caracteres.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025" marB="0" marR="0" marL="0"/>
                </a:tc>
              </a:tr>
              <a:tr h="2890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indexOf()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0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la posición de la primera ocurrencia del carácter buscado en la cadena.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025" marB="0" marR="0" marL="0"/>
                </a:tc>
              </a:tr>
              <a:tr h="2890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lastIndexOf()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0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la posición de la última ocurrencia del carácter buscado en la cadena.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3025" marB="0" marR="0" marL="0"/>
                </a:tc>
              </a:tr>
            </a:tbl>
          </a:graphicData>
        </a:graphic>
      </p:graphicFrame>
      <p:sp>
        <p:nvSpPr>
          <p:cNvPr id="276" name="Google Shape;276;p26"/>
          <p:cNvSpPr txBox="1"/>
          <p:nvPr/>
        </p:nvSpPr>
        <p:spPr>
          <a:xfrm>
            <a:off x="1467477" y="1356045"/>
            <a:ext cx="2305626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Propiedades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"/>
          <p:cNvSpPr txBox="1"/>
          <p:nvPr/>
        </p:nvSpPr>
        <p:spPr>
          <a:xfrm>
            <a:off x="1471866" y="1347086"/>
            <a:ext cx="2599620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Métodos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82" name="Google Shape;282;p27"/>
          <p:cNvSpPr txBox="1"/>
          <p:nvPr>
            <p:ph type="title"/>
          </p:nvPr>
        </p:nvSpPr>
        <p:spPr>
          <a:xfrm>
            <a:off x="1471866" y="524937"/>
            <a:ext cx="8730913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1471866" y="854993"/>
            <a:ext cx="5082938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84" name="Google Shape;284;p27"/>
          <p:cNvSpPr txBox="1"/>
          <p:nvPr/>
        </p:nvSpPr>
        <p:spPr>
          <a:xfrm>
            <a:off x="7137334" y="1320799"/>
            <a:ext cx="2070000" cy="3315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String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285" name="Google Shape;2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736" y="1777999"/>
            <a:ext cx="7975600" cy="3746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6" name="Google Shape;286;p27"/>
          <p:cNvGraphicFramePr/>
          <p:nvPr/>
        </p:nvGraphicFramePr>
        <p:xfrm>
          <a:off x="1383153" y="18261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{D9DCC02D-A91B-4BEF-9B40-9E9CB074C1E4}</a:tableStyleId>
              </a:tblPr>
              <a:tblGrid>
                <a:gridCol w="1424950"/>
                <a:gridCol w="6395725"/>
              </a:tblGrid>
              <a:tr h="3854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Método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Descripción</a:t>
                      </a:r>
                      <a:endParaRPr sz="19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</a:tr>
              <a:tr h="4335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match()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31450" marB="0" marR="0" marL="0"/>
                </a:tc>
                <a:tc>
                  <a:txBody>
                    <a:bodyPr/>
                    <a:lstStyle/>
                    <a:p>
                      <a:pPr indent="0" lvl="0" marL="95885" marR="178435" rtl="0" algn="l">
                        <a:lnSpc>
                          <a:spcPct val="11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Busca una coincidencia entre una expresión regular y una cadena y devuelve las coincidencias o null si  no ha encontrado nada.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4600" marB="0" marR="0" marL="0"/>
                </a:tc>
              </a:tr>
              <a:tr h="2739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replace()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14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Busca una subcadena en la cadena y la reemplaza por la nueva cadena especificada.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1425" marB="0" marR="0" marL="0"/>
                </a:tc>
              </a:tr>
              <a:tr h="2739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search()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14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Busca una subcadena en la cadena y devuelve la posición dónde se encontró.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1425" marB="0" marR="0" marL="0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slice()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44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Extrae una parte de la cadena y devuelve una nueva cadena.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4450" marB="0" marR="0" marL="0"/>
                </a:tc>
              </a:tr>
              <a:tr h="2739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split()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08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Divide una cadena en un array de subcadenas.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0800" marB="0" marR="0" marL="0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substr()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800" marB="0" marR="0" marL="0"/>
                </a:tc>
                <a:tc>
                  <a:txBody>
                    <a:bodyPr/>
                    <a:lstStyle/>
                    <a:p>
                      <a:pPr indent="0" lvl="0" marL="95885" marR="351790" rtl="0" algn="l">
                        <a:lnSpc>
                          <a:spcPct val="11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Extrae los caracteres de una cadena, comenzando en una determinada posición y con el número de  caracteres indicado.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3650" marB="0" marR="0" marL="0"/>
                </a:tc>
              </a:tr>
              <a:tr h="2739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substring()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08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Extrae los caracteres de una cadena entre dos índices especificados.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0800" marB="0" marR="0" marL="0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toLowerCase()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8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Convierte una cadena en minúsculas.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800" marB="0" marR="0" marL="0"/>
                </a:tc>
              </a:tr>
              <a:tr h="2739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toUpperCase()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017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Convierte una cadena en mayúsculas.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0175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 txBox="1"/>
          <p:nvPr/>
        </p:nvSpPr>
        <p:spPr>
          <a:xfrm>
            <a:off x="1725866" y="1669524"/>
            <a:ext cx="7468870" cy="312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EJERCICIO: u3e8_nombreapellidos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19100" marR="0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Crea un programa que pida al usuario su nombre y apellidos y muestre: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El tamaño del nombre más los apellidos (sin contar espacios).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La cadena en minúsculas y en mayúsculas.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542290" rtl="0" algn="l">
              <a:lnSpc>
                <a:spcPct val="102899"/>
              </a:lnSpc>
              <a:spcBef>
                <a:spcPts val="20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Que divida el nombre y los apellidos y los muestre en 3 líneas, donde  ponga Nombre: / Apellido 1: / Apellido 2: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5080" rtl="0" algn="l">
              <a:lnSpc>
                <a:spcPct val="100400"/>
              </a:lnSpc>
              <a:spcBef>
                <a:spcPts val="25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Una propuesta de nombre de usuario, compuesto por la inicial del nombre,  el primer apellido y la inicial del segundo apellido: ej. Para Laura Folgado  Galache sería lfolgadog.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403225" rtl="0" algn="l">
              <a:lnSpc>
                <a:spcPct val="117647"/>
              </a:lnSpc>
              <a:spcBef>
                <a:spcPts val="36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7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Una propuesta de nombre de usuario compuesto por las tres primeras  letras del nombre y de los dos apellidos: ej. laufolgal.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92" name="Google Shape;292;p28"/>
          <p:cNvSpPr txBox="1"/>
          <p:nvPr>
            <p:ph type="title"/>
          </p:nvPr>
        </p:nvSpPr>
        <p:spPr>
          <a:xfrm>
            <a:off x="1471866" y="524937"/>
            <a:ext cx="8499907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1471865" y="854993"/>
            <a:ext cx="5092563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94" name="Google Shape;294;p28"/>
          <p:cNvSpPr txBox="1"/>
          <p:nvPr/>
        </p:nvSpPr>
        <p:spPr>
          <a:xfrm>
            <a:off x="7137334" y="1320799"/>
            <a:ext cx="2070000" cy="3315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37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String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"/>
          <p:cNvSpPr txBox="1"/>
          <p:nvPr/>
        </p:nvSpPr>
        <p:spPr>
          <a:xfrm>
            <a:off x="1725866" y="1669524"/>
            <a:ext cx="7425055" cy="3241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EJERCICIO: u3e9_contrasena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19100" marR="672465" rtl="0" algn="l">
              <a:lnSpc>
                <a:spcPct val="117647"/>
              </a:lnSpc>
              <a:spcBef>
                <a:spcPts val="355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6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Crea un programa que pida al usuario una propuesta de contraseña y  compruebe si cumple con los siguientes requisitos.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6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Tiene entre 8 y 16 caracteres.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6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Tiene una letra mayúscula.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6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Tiene una letra minúscula.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0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6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Tiene un número.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660400" marR="756285" rtl="0" algn="l">
              <a:lnSpc>
                <a:spcPct val="102899"/>
              </a:lnSpc>
              <a:spcBef>
                <a:spcPts val="20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6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Tiene uno de los siguientes valores: guión alto, guión bajo, arroba,  almohadilla, dólar, tanto por ciento o ampersand.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419100" marR="5080" rtl="0" algn="l">
              <a:lnSpc>
                <a:spcPct val="117647"/>
              </a:lnSpc>
              <a:spcBef>
                <a:spcPts val="36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1" lang="en-US" sz="16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Si cumple con todos los requisitos se considera una contraseña segura, de lo  contrario mostrará que es una contraseña no segura.</a:t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00" name="Google Shape;300;p29"/>
          <p:cNvSpPr txBox="1"/>
          <p:nvPr>
            <p:ph type="title"/>
          </p:nvPr>
        </p:nvSpPr>
        <p:spPr>
          <a:xfrm>
            <a:off x="1471866" y="524937"/>
            <a:ext cx="8499907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301" name="Google Shape;301;p29"/>
          <p:cNvSpPr txBox="1"/>
          <p:nvPr/>
        </p:nvSpPr>
        <p:spPr>
          <a:xfrm>
            <a:off x="1471866" y="854993"/>
            <a:ext cx="4851932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02" name="Google Shape;302;p29"/>
          <p:cNvSpPr txBox="1"/>
          <p:nvPr/>
        </p:nvSpPr>
        <p:spPr>
          <a:xfrm>
            <a:off x="7137334" y="1320799"/>
            <a:ext cx="2070000" cy="3315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37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String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"/>
          <p:cNvSpPr txBox="1"/>
          <p:nvPr>
            <p:ph type="title"/>
          </p:nvPr>
        </p:nvSpPr>
        <p:spPr>
          <a:xfrm>
            <a:off x="1471866" y="524937"/>
            <a:ext cx="860578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1471865" y="854993"/>
            <a:ext cx="8750163" cy="1297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3.3. OBJETOS DE ALTO NIVEL EN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12700" marR="5080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Mediante el Browse Object Model (BOM) se podían modificar las propiedades del  navegador. Con Document Object Model (DOM) no hay ninguna entidad que trate de  estandarizarlo.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6304" y="2557023"/>
            <a:ext cx="6606525" cy="2632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/>
          <p:nvPr/>
        </p:nvSpPr>
        <p:spPr>
          <a:xfrm>
            <a:off x="1471866" y="1347086"/>
            <a:ext cx="4380294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Acceso a propiedades y métodos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1471866" y="2050357"/>
            <a:ext cx="6651856" cy="2033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-30480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window.nombrePropiedad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>
                <a:srgbClr val="EA157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window.nombreMe</a:t>
            </a: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́</a:t>
            </a: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todo( [para</a:t>
            </a: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́</a:t>
            </a: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metros] )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Calibri"/>
              <a:buNone/>
            </a:pPr>
            <a:r>
              <a:t/>
            </a:r>
            <a:endParaRPr b="0" i="0" sz="275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Como contiene el resto de objetos podemos omitir su nombre:</a:t>
            </a:r>
            <a:endParaRPr b="1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nombrePropiedad</a:t>
            </a:r>
            <a:endParaRPr b="1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04800" lvl="0" marL="317500" marR="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nombreMe</a:t>
            </a: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́</a:t>
            </a:r>
            <a:r>
              <a:rPr b="1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todo( [para</a:t>
            </a: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́</a:t>
            </a:r>
            <a:r>
              <a:rPr b="1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metros] )</a:t>
            </a:r>
            <a:endParaRPr b="1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16" name="Google Shape;316;p31"/>
          <p:cNvSpPr txBox="1"/>
          <p:nvPr>
            <p:ph type="title"/>
          </p:nvPr>
        </p:nvSpPr>
        <p:spPr>
          <a:xfrm>
            <a:off x="1471866" y="524937"/>
            <a:ext cx="8673161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1471866" y="854993"/>
            <a:ext cx="5448698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3.3. OBJETOS DE ALTO NIVEL EN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18" name="Google Shape;318;p31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37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Window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/>
        </p:nvSpPr>
        <p:spPr>
          <a:xfrm>
            <a:off x="1471866" y="1347086"/>
            <a:ext cx="2426366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Propiedades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24" name="Google Shape;324;p32"/>
          <p:cNvSpPr txBox="1"/>
          <p:nvPr>
            <p:ph type="title"/>
          </p:nvPr>
        </p:nvSpPr>
        <p:spPr>
          <a:xfrm>
            <a:off x="1471866" y="524937"/>
            <a:ext cx="8682787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325" name="Google Shape;325;p32"/>
          <p:cNvSpPr txBox="1"/>
          <p:nvPr/>
        </p:nvSpPr>
        <p:spPr>
          <a:xfrm>
            <a:off x="1471865" y="854993"/>
            <a:ext cx="458242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26" name="Google Shape;326;p32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37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Window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327" name="Google Shape;32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736" y="1828799"/>
            <a:ext cx="7975600" cy="3365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8" name="Google Shape;328;p32"/>
          <p:cNvGraphicFramePr/>
          <p:nvPr/>
        </p:nvGraphicFramePr>
        <p:xfrm>
          <a:off x="1383153" y="18798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{D9DCC02D-A91B-4BEF-9B40-9E9CB074C1E4}</a:tableStyleId>
              </a:tblPr>
              <a:tblGrid>
                <a:gridCol w="1471925"/>
                <a:gridCol w="6349375"/>
              </a:tblGrid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Propiedad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33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Descripción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335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closed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1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un valor Boolean indicando cuando una ventana ha sido cerrada o no.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10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defaultStatus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1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Ajusta o devuelve el valor por defecto de la barra de estado de una ventana.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10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document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objeto document para la ventana.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445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frames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un array de todos los marcos (incluidos iframes) de la ventana actual.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445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history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objeto history de la ventana.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4450" marB="0" marR="0" marL="0"/>
                </a:tc>
              </a:tr>
              <a:tr h="481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length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9550" marB="0" marR="0" marL="0"/>
                </a:tc>
                <a:tc>
                  <a:txBody>
                    <a:bodyPr/>
                    <a:lstStyle/>
                    <a:p>
                      <a:pPr indent="0" lvl="0" marL="95885" marR="691515" rtl="0" algn="l">
                        <a:lnSpc>
                          <a:spcPct val="1153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número de frames (incluyendo iframes) que hay en dentro de una  ventana.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35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location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38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la Localización del objeto ventana (URL del fichero).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3825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"/>
          <p:cNvSpPr txBox="1"/>
          <p:nvPr/>
        </p:nvSpPr>
        <p:spPr>
          <a:xfrm>
            <a:off x="1471866" y="1347086"/>
            <a:ext cx="2686248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Propiedades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34" name="Google Shape;334;p33"/>
          <p:cNvSpPr txBox="1"/>
          <p:nvPr>
            <p:ph type="title"/>
          </p:nvPr>
        </p:nvSpPr>
        <p:spPr>
          <a:xfrm>
            <a:off x="1471866" y="524937"/>
            <a:ext cx="8682787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335" name="Google Shape;335;p33"/>
          <p:cNvSpPr txBox="1"/>
          <p:nvPr/>
        </p:nvSpPr>
        <p:spPr>
          <a:xfrm>
            <a:off x="1471866" y="854993"/>
            <a:ext cx="4592050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36" name="Google Shape;336;p33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37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Window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337" name="Google Shape;33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736" y="1981199"/>
            <a:ext cx="7975600" cy="3276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8" name="Google Shape;338;p33"/>
          <p:cNvGraphicFramePr/>
          <p:nvPr/>
        </p:nvGraphicFramePr>
        <p:xfrm>
          <a:off x="1383153" y="20314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{D9DCC02D-A91B-4BEF-9B40-9E9CB074C1E4}</a:tableStyleId>
              </a:tblPr>
              <a:tblGrid>
                <a:gridCol w="1471925"/>
                <a:gridCol w="6349375"/>
              </a:tblGrid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Propiedad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33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Descripción</a:t>
                      </a:r>
                      <a:endParaRPr sz="17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335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name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1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Ajusta o devuelve el nombre de una ventana.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10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navigator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1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el objeto navigator de una ventana.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10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opener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la referencia a la ventana que abrió la ventana actual.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445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parent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la ventana padre de la ventana actual.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445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self / window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Devuelve la ventana actual.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445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status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Ajusta el texto de la barra de estado de una ventana.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84450" marB="0" marR="0" marL="0"/>
                </a:tc>
              </a:tr>
              <a:tr h="3907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top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838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Nombre alternativo de la ventana del nivel superior</a:t>
                      </a:r>
                      <a:endParaRPr sz="13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83825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4"/>
          <p:cNvSpPr txBox="1"/>
          <p:nvPr/>
        </p:nvSpPr>
        <p:spPr>
          <a:xfrm>
            <a:off x="1471866" y="1347086"/>
            <a:ext cx="2368614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Métodos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44" name="Google Shape;344;p34"/>
          <p:cNvSpPr txBox="1"/>
          <p:nvPr>
            <p:ph type="title"/>
          </p:nvPr>
        </p:nvSpPr>
        <p:spPr>
          <a:xfrm>
            <a:off x="1471866" y="524937"/>
            <a:ext cx="9125549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1471865" y="854993"/>
            <a:ext cx="4909683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46" name="Google Shape;346;p34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37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Window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347" name="Google Shape;34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736" y="1777999"/>
            <a:ext cx="7975600" cy="3505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8" name="Google Shape;348;p34"/>
          <p:cNvGraphicFramePr/>
          <p:nvPr/>
        </p:nvGraphicFramePr>
        <p:xfrm>
          <a:off x="1383153" y="18261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{D9DCC02D-A91B-4BEF-9B40-9E9CB074C1E4}</a:tableStyleId>
              </a:tblPr>
              <a:tblGrid>
                <a:gridCol w="2493000"/>
                <a:gridCol w="5328275"/>
              </a:tblGrid>
              <a:tr h="3280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Método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Descripción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</a:tr>
              <a:tr h="3280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alert(mensaje)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16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Muestra una ventana emergente de alerta y un botón de aceptar.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600" marB="0" marR="0" marL="0"/>
                </a:tc>
              </a:tr>
              <a:tr h="3280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blur()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16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Elimina el foco de la ventana actual.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600" marB="0" marR="0" marL="0"/>
                </a:tc>
              </a:tr>
              <a:tr h="3280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clearInterval(id)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16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Resetea el cronómetro ajustado con setInterval().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600" marB="0" marR="0" marL="0"/>
                </a:tc>
              </a:tr>
              <a:tr h="44962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setInterval(expresion,tiempo)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1925" marB="0" marR="0" marL="0"/>
                </a:tc>
                <a:tc>
                  <a:txBody>
                    <a:bodyPr/>
                    <a:lstStyle/>
                    <a:p>
                      <a:pPr indent="0" lvl="0" marL="95885" marR="173355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Llama a una función o evalúa una expresión en un intervalo especificado (en  milisegundos).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825" marB="0" marR="0" marL="0"/>
                </a:tc>
              </a:tr>
              <a:tr h="3775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clearTimeOut(nombre)</a:t>
                      </a:r>
                      <a:endParaRPr sz="12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857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Cancela el intervalo referenciado por ‘nombre’.</a:t>
                      </a:r>
                      <a:endParaRPr sz="12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85725" marB="0" marR="0" marL="0"/>
                </a:tc>
              </a:tr>
              <a:tr h="44962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setTimeOut(expresion,tiempo)</a:t>
                      </a:r>
                      <a:endParaRPr sz="12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21925" marB="0" marR="0" marL="0"/>
                </a:tc>
                <a:tc>
                  <a:txBody>
                    <a:bodyPr/>
                    <a:lstStyle/>
                    <a:p>
                      <a:pPr indent="0" lvl="0" marL="95885" marR="37846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Evalua la expresión después de que hayan pasado un intervalo de tiempo (en  milisegundos).</a:t>
                      </a:r>
                      <a:endParaRPr sz="12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43825" marB="0" marR="0" marL="0"/>
                </a:tc>
              </a:tr>
              <a:tr h="3280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close()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09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Cierra la ventana actual.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/>
                </a:tc>
              </a:tr>
              <a:tr h="44962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confirm(mensaje)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1275" marB="0" marR="0" marL="0"/>
                </a:tc>
                <a:tc>
                  <a:txBody>
                    <a:bodyPr/>
                    <a:lstStyle/>
                    <a:p>
                      <a:pPr indent="0" lvl="0" marL="95885" marR="287655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Muestra una ventana emergente con un mensaje, un botónde aceptar y un  botón de cancelar.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175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/>
        </p:nvSpPr>
        <p:spPr>
          <a:xfrm>
            <a:off x="1471866" y="1347086"/>
            <a:ext cx="2243486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Métodos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54" name="Google Shape;354;p35"/>
          <p:cNvSpPr txBox="1"/>
          <p:nvPr>
            <p:ph type="title"/>
          </p:nvPr>
        </p:nvSpPr>
        <p:spPr>
          <a:xfrm>
            <a:off x="1471866" y="524937"/>
            <a:ext cx="8519157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355" name="Google Shape;355;p35"/>
          <p:cNvSpPr txBox="1"/>
          <p:nvPr/>
        </p:nvSpPr>
        <p:spPr>
          <a:xfrm>
            <a:off x="1471866" y="854993"/>
            <a:ext cx="4871182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56" name="Google Shape;356;p35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37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Window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357" name="Google Shape;35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736" y="1777999"/>
            <a:ext cx="7975600" cy="28193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8" name="Google Shape;358;p35"/>
          <p:cNvGraphicFramePr/>
          <p:nvPr/>
        </p:nvGraphicFramePr>
        <p:xfrm>
          <a:off x="1383153" y="18261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{D9DCC02D-A91B-4BEF-9B40-9E9CB074C1E4}</a:tableStyleId>
              </a:tblPr>
              <a:tblGrid>
                <a:gridCol w="2592075"/>
                <a:gridCol w="5229200"/>
              </a:tblGrid>
              <a:tr h="3280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Método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Descripción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</a:tr>
              <a:tr h="3280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focus()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16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Coloca el foco en la ventana actual.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600" marB="0" marR="0" marL="0"/>
                </a:tc>
              </a:tr>
              <a:tr h="3280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moveBy(x,y)</a:t>
                      </a:r>
                      <a:endParaRPr sz="12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16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Mueve la ventana actual el número de píxeles especificados.</a:t>
                      </a:r>
                      <a:endParaRPr sz="12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1600" marB="0" marR="0" marL="0"/>
                </a:tc>
              </a:tr>
              <a:tr h="3280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moveTo(x,y)</a:t>
                      </a:r>
                      <a:endParaRPr sz="12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16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Mueve la ventana a la posición especificada.</a:t>
                      </a:r>
                      <a:endParaRPr sz="12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1600" marB="0" marR="0" marL="0"/>
                </a:tc>
              </a:tr>
              <a:tr h="3280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open(url,nombre,características)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16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Abre una nueva ventana de navegación.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600" marB="0" marR="0" marL="0"/>
                </a:tc>
              </a:tr>
              <a:tr h="3280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prompt(mensaje,respuesta_defecto)</a:t>
                      </a:r>
                      <a:endParaRPr sz="12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16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Muestra una ventana de diálogo para introducir datos.</a:t>
                      </a:r>
                      <a:endParaRPr sz="12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61600" marB="0" marR="0" marL="0"/>
                </a:tc>
              </a:tr>
              <a:tr h="3775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scrollBy(x,y)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7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Mueve el scroll de la ventana el número de píxeles indicados.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/>
                </a:tc>
              </a:tr>
              <a:tr h="3280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scrollTo(x,y)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09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Mueve el scroll de la ventana a la posición indicada.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 txBox="1"/>
          <p:nvPr/>
        </p:nvSpPr>
        <p:spPr>
          <a:xfrm>
            <a:off x="1471865" y="1347086"/>
            <a:ext cx="4101161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ADDC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Características de una ventana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64" name="Google Shape;364;p36"/>
          <p:cNvSpPr txBox="1"/>
          <p:nvPr>
            <p:ph type="title"/>
          </p:nvPr>
        </p:nvSpPr>
        <p:spPr>
          <a:xfrm>
            <a:off x="1471866" y="524937"/>
            <a:ext cx="8933043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365" name="Google Shape;365;p36"/>
          <p:cNvSpPr txBox="1"/>
          <p:nvPr/>
        </p:nvSpPr>
        <p:spPr>
          <a:xfrm>
            <a:off x="1471865" y="854993"/>
            <a:ext cx="4601675" cy="27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66" name="Google Shape;366;p36"/>
          <p:cNvSpPr txBox="1"/>
          <p:nvPr/>
        </p:nvSpPr>
        <p:spPr>
          <a:xfrm>
            <a:off x="7137334" y="1320799"/>
            <a:ext cx="2070100" cy="3937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37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Window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367" name="Google Shape;36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736" y="1777999"/>
            <a:ext cx="7975600" cy="3581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8" name="Google Shape;368;p36"/>
          <p:cNvGraphicFramePr/>
          <p:nvPr/>
        </p:nvGraphicFramePr>
        <p:xfrm>
          <a:off x="1383153" y="1826102"/>
          <a:ext cx="3000000" cy="3000000"/>
        </p:xfrm>
        <a:graphic>
          <a:graphicData uri="http://schemas.openxmlformats.org/drawingml/2006/table">
            <a:tbl>
              <a:tblPr bandRow="1" firstRow="1">
                <a:gradFill>
                  <a:gsLst>
                    <a:gs pos="0">
                      <a:srgbClr val="FFBB82"/>
                    </a:gs>
                    <a:gs pos="35000">
                      <a:srgbClr val="FFCFA8"/>
                    </a:gs>
                    <a:gs pos="100000">
                      <a:srgbClr val="FFEBD9"/>
                    </a:gs>
                  </a:gsLst>
                  <a:lin ang="16200000" scaled="0"/>
                </a:gradFill>
                <a:tableStyleId>{07D878EA-F553-429C-B00B-4E5247AAEF76}</a:tableStyleId>
              </a:tblPr>
              <a:tblGrid>
                <a:gridCol w="2493000"/>
                <a:gridCol w="5328275"/>
              </a:tblGrid>
              <a:tr h="3211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Método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Descripción</a:t>
                      </a:r>
                      <a:endParaRPr sz="15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34300" marB="0" marR="0" marL="0"/>
                </a:tc>
              </a:tr>
              <a:tr h="2835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toolbar = [yes|no|1|0]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65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Indica si la ventana tendrá o no barra de herramientas (yes=1; no=0).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6525" marB="0" marR="0" marL="0"/>
                </a:tc>
              </a:tr>
              <a:tr h="2835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location = [yes|no|1|0 ]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587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Indica si la ventana tendrá campo de localización o no (yes=1; no=0).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5875" marB="0" marR="0" marL="0"/>
                </a:tc>
              </a:tr>
              <a:tr h="2835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directories = [yes|no|1|0]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587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Indica si la ventana tendrá botones de dirección o no (yes=1; no=0).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5875" marB="0" marR="0" marL="0"/>
                </a:tc>
              </a:tr>
              <a:tr h="2835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status = [yes|no|1|0]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587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Indica si la ventana tendrá barra de estado o no (yes=1; no=0).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5875" marB="0" marR="0" marL="0"/>
                </a:tc>
              </a:tr>
              <a:tr h="2835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menubar = [yes|no|1|0]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587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Indica si la ventana tendrá barra de menús o no (yes=1; no=0).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5875" marB="0" marR="0" marL="0"/>
                </a:tc>
              </a:tr>
              <a:tr h="32622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scrollbars = [yes|no|1|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68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Indica si la ventana tendrá barras de desplazamiento o no (yes=1; no=0).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76825" marB="0" marR="0" marL="0"/>
                </a:tc>
              </a:tr>
              <a:tr h="2835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resizable = [yes|no|1|0].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52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Indica si la ventana se podrá redimensionar o no (yes=1; no=0).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5250" marB="0" marR="0" marL="0"/>
                </a:tc>
              </a:tr>
              <a:tr h="37195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width = px / heigth = px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9970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Ancho y alto de la ventana en píxeles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99700" marB="0" marR="0" marL="0"/>
                </a:tc>
              </a:tr>
              <a:tr h="433575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outerWidth = px / outerHeigth = px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45725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Ancho y alto total de la ventana en píxeles.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130175" marB="0" marR="0" marL="0"/>
                </a:tc>
              </a:tr>
              <a:tr h="283500"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top = px / left = px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5250" marB="0" marR="0" marL="0"/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Distancia de la ventana desde la parte superior e izquierda en píxeles.</a:t>
                      </a:r>
                      <a:endParaRPr sz="1100" u="none" cap="none" strike="noStrike">
                        <a:latin typeface="Libre Franklin Medium"/>
                        <a:ea typeface="Libre Franklin Medium"/>
                        <a:cs typeface="Libre Franklin Medium"/>
                        <a:sym typeface="Libre Franklin Medium"/>
                      </a:endParaRPr>
                    </a:p>
                  </a:txBody>
                  <a:tcPr marT="5525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/>
        </p:nvSpPr>
        <p:spPr>
          <a:xfrm>
            <a:off x="1725865" y="1568917"/>
            <a:ext cx="2441873" cy="21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EJERCICIO: u3e10_window</a:t>
            </a:r>
            <a:endParaRPr b="0" i="0" sz="13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74" name="Google Shape;374;p37"/>
          <p:cNvSpPr txBox="1"/>
          <p:nvPr/>
        </p:nvSpPr>
        <p:spPr>
          <a:xfrm>
            <a:off x="1967166" y="1740613"/>
            <a:ext cx="7273925" cy="351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-165100" lvl="0" marL="177800" marR="549275" rtl="0" algn="l">
              <a:lnSpc>
                <a:spcPct val="76900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300"/>
              <a:buFont typeface="Arial"/>
              <a:buChar char="•"/>
            </a:pPr>
            <a:r>
              <a:rPr b="0" i="1" lang="en-US" sz="12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Crea un programa que tenga botones para permitir modificar las siguientes propiedades de una  ventana:</a:t>
            </a:r>
            <a:endParaRPr b="0" i="0" sz="12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41910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300"/>
              <a:buFont typeface="Arial"/>
              <a:buChar char="•"/>
            </a:pPr>
            <a:r>
              <a:rPr b="0" i="1" lang="en-US" sz="12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Abrir una ventana nueva:</a:t>
            </a:r>
            <a:endParaRPr b="0" i="0" sz="12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215900" lvl="2" marL="711200" marR="0" rtl="0" algn="l">
              <a:lnSpc>
                <a:spcPct val="118333"/>
              </a:lnSpc>
              <a:spcBef>
                <a:spcPts val="40"/>
              </a:spcBef>
              <a:spcAft>
                <a:spcPts val="0"/>
              </a:spcAft>
              <a:buClr>
                <a:srgbClr val="EA157A"/>
              </a:buClr>
              <a:buSzPts val="1200"/>
              <a:buFont typeface="Arial"/>
              <a:buChar char="•"/>
            </a:pPr>
            <a:r>
              <a:rPr b="0" i="1" lang="en-US" sz="11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Debes preguntar al usuario si está de acuerdo o no, y solo si acepta se abrirá la nueva ventana.</a:t>
            </a:r>
            <a:endParaRPr b="0" i="0" sz="11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2" marL="673100" marR="5080" rtl="0" algn="l">
              <a:lnSpc>
                <a:spcPct val="82100"/>
              </a:lnSpc>
              <a:spcBef>
                <a:spcPts val="235"/>
              </a:spcBef>
              <a:spcAft>
                <a:spcPts val="0"/>
              </a:spcAft>
              <a:buClr>
                <a:srgbClr val="EA157A"/>
              </a:buClr>
              <a:buSzPts val="1200"/>
              <a:buFont typeface="Arial"/>
              <a:buChar char="•"/>
            </a:pPr>
            <a:r>
              <a:rPr b="0" i="1" lang="en-US" sz="11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La nueva ventana tendrá las siguientes propiedades: </a:t>
            </a:r>
            <a:r>
              <a:rPr b="0" i="1" lang="en-US" sz="105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no tendrá barrade herramientas, ni location, ni barra de  menú, ni será redimensionable. Tendrá 200x80 píxeles y se posicionará en 500x500 píxeles.</a:t>
            </a:r>
            <a:endParaRPr b="0" i="0" sz="105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2" marL="673100" marR="0" rtl="0" algn="l">
              <a:lnSpc>
                <a:spcPct val="117272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100"/>
              <a:buFont typeface="Arial"/>
              <a:buChar char="•"/>
            </a:pPr>
            <a:r>
              <a:rPr b="0" i="1" lang="en-US" sz="105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La nueva ventana incluirá un pequeño texto y un botón que al hacer clic cerrará la ventana.</a:t>
            </a:r>
            <a:endParaRPr b="0" i="0" sz="105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419100" marR="0" rtl="0" algn="l">
              <a:lnSpc>
                <a:spcPct val="116923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300"/>
              <a:buFont typeface="Arial"/>
              <a:buChar char="•"/>
            </a:pPr>
            <a:r>
              <a:rPr b="0" i="1" lang="en-US" sz="12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Cerrar la ventana creada: si la ventana está cerrada mostrará un mensaje de error.</a:t>
            </a:r>
            <a:endParaRPr b="0" i="0" sz="12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41910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300"/>
              <a:buFont typeface="Arial"/>
              <a:buChar char="•"/>
            </a:pPr>
            <a:r>
              <a:rPr b="0" i="1" lang="en-US" sz="12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Mover la ventana 10 píxeles a la derecha y abajo.</a:t>
            </a:r>
            <a:endParaRPr b="0" i="0" sz="12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419100" marR="0" rtl="0" algn="l">
              <a:lnSpc>
                <a:spcPct val="117692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300"/>
              <a:buFont typeface="Arial"/>
              <a:buChar char="•"/>
            </a:pPr>
            <a:r>
              <a:rPr b="0" i="1" lang="en-US" sz="12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Mover la ventana a la posición 100,100.</a:t>
            </a:r>
            <a:endParaRPr b="0" i="0" sz="12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419100" marR="0" rtl="0" algn="l">
              <a:lnSpc>
                <a:spcPct val="117692"/>
              </a:lnSpc>
              <a:spcBef>
                <a:spcPts val="40"/>
              </a:spcBef>
              <a:spcAft>
                <a:spcPts val="0"/>
              </a:spcAft>
              <a:buClr>
                <a:srgbClr val="EA157A"/>
              </a:buClr>
              <a:buSzPts val="1300"/>
              <a:buFont typeface="Arial"/>
              <a:buChar char="•"/>
            </a:pPr>
            <a:r>
              <a:rPr b="0" i="1" lang="en-US" sz="12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Aumentar el tamaño de la ventana 10 píxeles de ancho y largo.</a:t>
            </a:r>
            <a:endParaRPr b="0" i="0" sz="12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41910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300"/>
              <a:buFont typeface="Arial"/>
              <a:buChar char="•"/>
            </a:pPr>
            <a:r>
              <a:rPr b="0" i="1" lang="en-US" sz="12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Aumentar el tamaño de la ventana a 400x200.</a:t>
            </a:r>
            <a:endParaRPr b="0" i="0" sz="12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419100" marR="0" rtl="0" algn="l">
              <a:lnSpc>
                <a:spcPct val="117692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300"/>
              <a:buFont typeface="Arial"/>
              <a:buChar char="•"/>
            </a:pPr>
            <a:r>
              <a:rPr b="0" i="1" lang="en-US" sz="12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Colocar el scroll de la ventana arriba del todo</a:t>
            </a:r>
            <a:endParaRPr b="0" i="0" sz="12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419100" marR="0" rtl="0" algn="l">
              <a:lnSpc>
                <a:spcPct val="117692"/>
              </a:lnSpc>
              <a:spcBef>
                <a:spcPts val="40"/>
              </a:spcBef>
              <a:spcAft>
                <a:spcPts val="0"/>
              </a:spcAft>
              <a:buClr>
                <a:srgbClr val="EA157A"/>
              </a:buClr>
              <a:buSzPts val="1300"/>
              <a:buFont typeface="Arial"/>
              <a:buChar char="•"/>
            </a:pPr>
            <a:r>
              <a:rPr b="0" i="1" lang="en-US" sz="12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Colocar el scroll de la ventana a 10 píxeles de la parte superior.</a:t>
            </a:r>
            <a:endParaRPr b="0" i="0" sz="12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177800" marR="243204" rtl="0" algn="l">
              <a:lnSpc>
                <a:spcPct val="76900"/>
              </a:lnSpc>
              <a:spcBef>
                <a:spcPts val="330"/>
              </a:spcBef>
              <a:spcAft>
                <a:spcPts val="0"/>
              </a:spcAft>
              <a:buClr>
                <a:srgbClr val="EA157A"/>
              </a:buClr>
              <a:buSzPts val="1300"/>
              <a:buFont typeface="Arial"/>
              <a:buChar char="•"/>
            </a:pPr>
            <a:r>
              <a:rPr b="0" i="1" lang="en-US" sz="12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Todos los botones, exceptoel primero y el segundo, los puedes programar diréctamente mediante la  propiedad onClick, por ejemplo:</a:t>
            </a:r>
            <a:endParaRPr b="0" i="0" sz="12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77800" lvl="1" marL="419100" marR="0" rtl="0" algn="l">
              <a:lnSpc>
                <a:spcPct val="117692"/>
              </a:lnSpc>
              <a:spcBef>
                <a:spcPts val="40"/>
              </a:spcBef>
              <a:spcAft>
                <a:spcPts val="0"/>
              </a:spcAft>
              <a:buClr>
                <a:srgbClr val="EA157A"/>
              </a:buClr>
              <a:buSzPts val="1300"/>
              <a:buFont typeface="Arial"/>
              <a:buChar char="•"/>
            </a:pPr>
            <a:r>
              <a:rPr b="0" i="1" lang="en-US" sz="12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&lt;input type=“button” value=“Imprimir” onClick=“print()”/&gt;</a:t>
            </a:r>
            <a:endParaRPr b="0" i="0" sz="12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165100" lvl="0" marL="177800" marR="0" rtl="0" algn="l">
              <a:lnSpc>
                <a:spcPct val="117692"/>
              </a:lnSpc>
              <a:spcBef>
                <a:spcPts val="0"/>
              </a:spcBef>
              <a:spcAft>
                <a:spcPts val="0"/>
              </a:spcAft>
              <a:buClr>
                <a:srgbClr val="EA157A"/>
              </a:buClr>
              <a:buSzPts val="1300"/>
              <a:buFont typeface="Arial"/>
              <a:buChar char="•"/>
            </a:pPr>
            <a:r>
              <a:rPr b="0" i="1" lang="en-US" sz="1200" u="none" cap="none" strike="noStrike">
                <a:solidFill>
                  <a:srgbClr val="EA157A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Recuerda que no es necesario utilizar “window” delante de la propiedad.</a:t>
            </a:r>
            <a:endParaRPr b="0" i="0" sz="12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75" name="Google Shape;375;p37"/>
          <p:cNvSpPr txBox="1"/>
          <p:nvPr>
            <p:ph type="title"/>
          </p:nvPr>
        </p:nvSpPr>
        <p:spPr>
          <a:xfrm>
            <a:off x="1471866" y="524937"/>
            <a:ext cx="8817540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UTILIZACIÓN DE LOS OBJETOS PREDEFINIDOS DEL LENGUAJE</a:t>
            </a:r>
            <a:endParaRPr/>
          </a:p>
        </p:txBody>
      </p:sp>
      <p:sp>
        <p:nvSpPr>
          <p:cNvPr id="376" name="Google Shape;376;p37"/>
          <p:cNvSpPr txBox="1"/>
          <p:nvPr/>
        </p:nvSpPr>
        <p:spPr>
          <a:xfrm>
            <a:off x="1471866" y="854993"/>
            <a:ext cx="5063688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3.2. OBJETOS NATIVOS DE JAVASCRIPT</a:t>
            </a:r>
            <a:endParaRPr b="0" i="0" sz="17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77" name="Google Shape;377;p37"/>
          <p:cNvSpPr txBox="1"/>
          <p:nvPr/>
        </p:nvSpPr>
        <p:spPr>
          <a:xfrm>
            <a:off x="7137334" y="1320799"/>
            <a:ext cx="2070000" cy="331500"/>
          </a:xfrm>
          <a:prstGeom prst="rect">
            <a:avLst/>
          </a:prstGeom>
          <a:solidFill>
            <a:srgbClr val="EA157A"/>
          </a:solidFill>
          <a:ln cap="flat" cmpd="sng" w="25375">
            <a:solidFill>
              <a:srgbClr val="AC0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6337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Window</a:t>
            </a:r>
            <a:endParaRPr b="0" i="0" sz="1900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2023-09-18T11:47:19Z</dcterms:created>
  <dc:creator>Liher Bilbao</dc:creator>
</cp:coreProperties>
</file>